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atwick Ultra-Bold" charset="1" panose="00000900000000000000"/>
      <p:regular r:id="rId18"/>
    </p:embeddedFont>
    <p:embeddedFont>
      <p:font typeface="Codec Pro Ultra-Bold" charset="1" panose="00000700000000000000"/>
      <p:regular r:id="rId19"/>
    </p:embeddedFont>
    <p:embeddedFont>
      <p:font typeface="Codec Pro" charset="1" panose="00000500000000000000"/>
      <p:regular r:id="rId20"/>
    </p:embeddedFont>
    <p:embeddedFont>
      <p:font typeface="Codec Pro Bold" charset="1" panose="0000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10095507" y="1171470"/>
            <a:ext cx="6898579" cy="7848810"/>
            <a:chOff x="0" y="0"/>
            <a:chExt cx="1078972" cy="1227593"/>
          </a:xfrm>
        </p:grpSpPr>
        <p:sp>
          <p:nvSpPr>
            <p:cNvPr name="Freeform 6" id="6"/>
            <p:cNvSpPr/>
            <p:nvPr/>
          </p:nvSpPr>
          <p:spPr>
            <a:xfrm flipH="false" flipV="false" rot="0">
              <a:off x="0" y="0"/>
              <a:ext cx="1078972" cy="1227593"/>
            </a:xfrm>
            <a:custGeom>
              <a:avLst/>
              <a:gdLst/>
              <a:ahLst/>
              <a:cxnLst/>
              <a:rect r="r" b="b" t="t" l="l"/>
              <a:pathLst>
                <a:path h="1227593" w="1078972">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2"/>
              <a:stretch>
                <a:fillRect l="0" t="-153" r="0" b="-153"/>
              </a:stretch>
            </a:blipFill>
            <a:ln w="38100" cap="rnd">
              <a:solidFill>
                <a:srgbClr val="000000"/>
              </a:solidFill>
              <a:prstDash val="solid"/>
              <a:round/>
            </a:ln>
          </p:spPr>
        </p:sp>
      </p:grpSp>
      <p:sp>
        <p:nvSpPr>
          <p:cNvPr name="TextBox 7" id="7"/>
          <p:cNvSpPr txBox="true"/>
          <p:nvPr/>
        </p:nvSpPr>
        <p:spPr>
          <a:xfrm rot="0">
            <a:off x="1800225" y="2667020"/>
            <a:ext cx="7496175" cy="4610100"/>
          </a:xfrm>
          <a:prstGeom prst="rect">
            <a:avLst/>
          </a:prstGeom>
        </p:spPr>
        <p:txBody>
          <a:bodyPr anchor="t" rtlCol="false" tIns="0" lIns="0" bIns="0" rIns="0">
            <a:spAutoFit/>
          </a:bodyPr>
          <a:lstStyle/>
          <a:p>
            <a:pPr algn="ctr" marL="0" indent="0" lvl="0">
              <a:lnSpc>
                <a:spcPts val="8999"/>
              </a:lnSpc>
            </a:pPr>
            <a:r>
              <a:rPr lang="en-US" b="true" sz="7499" spc="-187">
                <a:solidFill>
                  <a:srgbClr val="C5CAE9"/>
                </a:solidFill>
                <a:latin typeface="Gatwick Ultra-Bold"/>
                <a:ea typeface="Gatwick Ultra-Bold"/>
                <a:cs typeface="Gatwick Ultra-Bold"/>
                <a:sym typeface="Gatwick Ultra-Bold"/>
              </a:rPr>
              <a:t>Modélisation et vérification formelle</a:t>
            </a:r>
          </a:p>
        </p:txBody>
      </p:sp>
      <p:sp>
        <p:nvSpPr>
          <p:cNvPr name="TextBox 8" id="8"/>
          <p:cNvSpPr txBox="true"/>
          <p:nvPr/>
        </p:nvSpPr>
        <p:spPr>
          <a:xfrm rot="0">
            <a:off x="1800225" y="150495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C5CAE9"/>
                </a:solidFill>
                <a:latin typeface="Codec Pro Ultra-Bold"/>
                <a:ea typeface="Codec Pro Ultra-Bold"/>
                <a:cs typeface="Codec Pro Ultra-Bold"/>
                <a:sym typeface="Codec Pro Ultra-Bold"/>
              </a:rPr>
              <a:t>INTRODUCTION À LA PRÉSENTATION</a:t>
            </a:r>
          </a:p>
        </p:txBody>
      </p:sp>
      <p:sp>
        <p:nvSpPr>
          <p:cNvPr name="TextBox 9" id="9"/>
          <p:cNvSpPr txBox="true"/>
          <p:nvPr/>
        </p:nvSpPr>
        <p:spPr>
          <a:xfrm rot="0">
            <a:off x="1800225" y="824738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F5F5F5"/>
                </a:solidFill>
                <a:latin typeface="Codec Pro Ultra-Bold"/>
                <a:ea typeface="Codec Pro Ultra-Bold"/>
                <a:cs typeface="Codec Pro Ultra-Bold"/>
                <a:sym typeface="Codec Pro Ultra-Bold"/>
              </a:rPr>
              <a:t>Souleim Mehdi Abbes Nahel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9296400" y="2047875"/>
            <a:ext cx="6886575" cy="5541645"/>
            <a:chOff x="0" y="0"/>
            <a:chExt cx="9182100" cy="7388860"/>
          </a:xfrm>
        </p:grpSpPr>
        <p:sp>
          <p:nvSpPr>
            <p:cNvPr name="TextBox 7" id="7"/>
            <p:cNvSpPr txBox="true"/>
            <p:nvPr/>
          </p:nvSpPr>
          <p:spPr>
            <a:xfrm rot="0">
              <a:off x="0" y="-57150"/>
              <a:ext cx="9182100" cy="551815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Problématique et Objectifs des systèmes bancaires distribués</a:t>
              </a:r>
            </a:p>
          </p:txBody>
        </p:sp>
        <p:sp>
          <p:nvSpPr>
            <p:cNvPr name="TextBox 8" id="8"/>
            <p:cNvSpPr txBox="true"/>
            <p:nvPr/>
          </p:nvSpPr>
          <p:spPr>
            <a:xfrm rot="0">
              <a:off x="0" y="5800725"/>
              <a:ext cx="9182100" cy="15881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Garantir la </a:t>
              </a:r>
              <a:r>
                <a:rPr lang="en-US" b="true" sz="2400">
                  <a:solidFill>
                    <a:srgbClr val="F5F5F5"/>
                  </a:solidFill>
                  <a:latin typeface="Codec Pro Bold"/>
                  <a:ea typeface="Codec Pro Bold"/>
                  <a:cs typeface="Codec Pro Bold"/>
                  <a:sym typeface="Codec Pro Bold"/>
                </a:rPr>
                <a:t>robustesse des systèmes</a:t>
              </a:r>
              <a:r>
                <a:rPr lang="en-US" sz="2400">
                  <a:solidFill>
                    <a:srgbClr val="F5F5F5"/>
                  </a:solidFill>
                  <a:latin typeface="Codec Pro"/>
                  <a:ea typeface="Codec Pro"/>
                  <a:cs typeface="Codec Pro"/>
                  <a:sym typeface="Codec Pro"/>
                </a:rPr>
                <a:t> face aux opérations concurrentes, en évitant les risques critiques tels que le double débit.</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169545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État de l'art de la vérification formelle</a:t>
            </a:r>
          </a:p>
        </p:txBody>
      </p:sp>
      <p:grpSp>
        <p:nvGrpSpPr>
          <p:cNvPr name="Group 15" id="15"/>
          <p:cNvGrpSpPr/>
          <p:nvPr/>
        </p:nvGrpSpPr>
        <p:grpSpPr>
          <a:xfrm rot="0">
            <a:off x="2178450" y="4248150"/>
            <a:ext cx="3961075" cy="2758413"/>
            <a:chOff x="0" y="0"/>
            <a:chExt cx="5281434" cy="3677884"/>
          </a:xfrm>
        </p:grpSpPr>
        <p:sp>
          <p:nvSpPr>
            <p:cNvPr name="TextBox 16" id="16"/>
            <p:cNvSpPr txBox="true"/>
            <p:nvPr/>
          </p:nvSpPr>
          <p:spPr>
            <a:xfrm rot="0">
              <a:off x="0" y="527649"/>
              <a:ext cx="5281434" cy="31502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La vérification formelle assure que le </a:t>
              </a:r>
              <a:r>
                <a:rPr lang="en-US" b="true" sz="2400">
                  <a:solidFill>
                    <a:srgbClr val="F5F5F5"/>
                  </a:solidFill>
                  <a:latin typeface="Codec Pro Bold"/>
                  <a:ea typeface="Codec Pro Bold"/>
                  <a:cs typeface="Codec Pro Bold"/>
                  <a:sym typeface="Codec Pro Bold"/>
                </a:rPr>
                <a:t>solde d'un compte</a:t>
              </a:r>
              <a:r>
                <a:rPr lang="en-US" sz="2400">
                  <a:solidFill>
                    <a:srgbClr val="F5F5F5"/>
                  </a:solidFill>
                  <a:latin typeface="Codec Pro"/>
                  <a:ea typeface="Codec Pro"/>
                  <a:cs typeface="Codec Pro"/>
                  <a:sym typeface="Codec Pro"/>
                </a:rPr>
                <a:t> ne devient jamais négatif, garantissant ainsi la robustesse des systèmes bancaires.</a:t>
              </a:r>
            </a:p>
          </p:txBody>
        </p:sp>
        <p:sp>
          <p:nvSpPr>
            <p:cNvPr name="TextBox 17" id="17"/>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Sûreté des systèmes</a:t>
              </a:r>
            </a:p>
          </p:txBody>
        </p:sp>
      </p:grpSp>
      <p:grpSp>
        <p:nvGrpSpPr>
          <p:cNvPr name="Group 18" id="18"/>
          <p:cNvGrpSpPr/>
          <p:nvPr/>
        </p:nvGrpSpPr>
        <p:grpSpPr>
          <a:xfrm rot="0">
            <a:off x="7163462" y="4248150"/>
            <a:ext cx="3961075" cy="2758440"/>
            <a:chOff x="0" y="0"/>
            <a:chExt cx="5281434" cy="3677920"/>
          </a:xfrm>
        </p:grpSpPr>
        <p:sp>
          <p:nvSpPr>
            <p:cNvPr name="TextBox 19" id="19"/>
            <p:cNvSpPr txBox="true"/>
            <p:nvPr/>
          </p:nvSpPr>
          <p:spPr>
            <a:xfrm rot="0">
              <a:off x="0" y="527685"/>
              <a:ext cx="5281434" cy="31502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Les systèmes doivent garantir que chaque </a:t>
              </a:r>
              <a:r>
                <a:rPr lang="en-US" b="true" sz="2400">
                  <a:solidFill>
                    <a:srgbClr val="F5F5F5"/>
                  </a:solidFill>
                  <a:latin typeface="Codec Pro Bold"/>
                  <a:ea typeface="Codec Pro Bold"/>
                  <a:cs typeface="Codec Pro Bold"/>
                  <a:sym typeface="Codec Pro Bold"/>
                </a:rPr>
                <a:t>virement est confirmé</a:t>
              </a:r>
              <a:r>
                <a:rPr lang="en-US" sz="2400">
                  <a:solidFill>
                    <a:srgbClr val="F5F5F5"/>
                  </a:solidFill>
                  <a:latin typeface="Codec Pro"/>
                  <a:ea typeface="Codec Pro"/>
                  <a:cs typeface="Codec Pro"/>
                  <a:sym typeface="Codec Pro"/>
                </a:rPr>
                <a:t> ou annulé, assurant ainsi un service fluide et fiable pour les utilisateurs.</a:t>
              </a:r>
            </a:p>
          </p:txBody>
        </p:sp>
        <p:sp>
          <p:nvSpPr>
            <p:cNvPr name="TextBox 20" id="20"/>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Vivacité et réactivité</a:t>
              </a:r>
            </a:p>
          </p:txBody>
        </p:sp>
      </p:grpSp>
      <p:grpSp>
        <p:nvGrpSpPr>
          <p:cNvPr name="Group 21" id="21"/>
          <p:cNvGrpSpPr/>
          <p:nvPr/>
        </p:nvGrpSpPr>
        <p:grpSpPr>
          <a:xfrm rot="0">
            <a:off x="12148475" y="4248150"/>
            <a:ext cx="3961075" cy="3148965"/>
            <a:chOff x="0" y="0"/>
            <a:chExt cx="5281434" cy="4198620"/>
          </a:xfrm>
        </p:grpSpPr>
        <p:sp>
          <p:nvSpPr>
            <p:cNvPr name="TextBox 22" id="22"/>
            <p:cNvSpPr txBox="true"/>
            <p:nvPr/>
          </p:nvSpPr>
          <p:spPr>
            <a:xfrm rot="0">
              <a:off x="0" y="527685"/>
              <a:ext cx="5281434" cy="36709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La vérification formelle prévient les situations où le système </a:t>
              </a:r>
              <a:r>
                <a:rPr lang="en-US" b="true" sz="2400">
                  <a:solidFill>
                    <a:srgbClr val="F5F5F5"/>
                  </a:solidFill>
                  <a:latin typeface="Codec Pro Bold"/>
                  <a:ea typeface="Codec Pro Bold"/>
                  <a:cs typeface="Codec Pro Bold"/>
                  <a:sym typeface="Codec Pro Bold"/>
                </a:rPr>
                <a:t>reste bloqué</a:t>
              </a:r>
              <a:r>
                <a:rPr lang="en-US" sz="2400">
                  <a:solidFill>
                    <a:srgbClr val="F5F5F5"/>
                  </a:solidFill>
                  <a:latin typeface="Codec Pro"/>
                  <a:ea typeface="Codec Pro"/>
                  <a:cs typeface="Codec Pro"/>
                  <a:sym typeface="Codec Pro"/>
                </a:rPr>
                <a:t>, assurant une fluidité continue dans le traitement des opérations bancaires.</a:t>
              </a:r>
            </a:p>
          </p:txBody>
        </p:sp>
        <p:sp>
          <p:nvSpPr>
            <p:cNvPr name="TextBox 23" id="23"/>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Gestion des deadlocks</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042"/>
                </a:lnSpc>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042"/>
                </a:lnSpc>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042"/>
                </a:lnSpc>
              </a:pPr>
            </a:p>
          </p:txBody>
        </p:sp>
      </p:grpSp>
      <p:sp>
        <p:nvSpPr>
          <p:cNvPr name="TextBox 14" id="14"/>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Architecture AkkaScala</a:t>
            </a:r>
          </a:p>
        </p:txBody>
      </p:sp>
      <p:sp>
        <p:nvSpPr>
          <p:cNvPr name="TextBox 15" id="15"/>
          <p:cNvSpPr txBox="true"/>
          <p:nvPr/>
        </p:nvSpPr>
        <p:spPr>
          <a:xfrm rot="0">
            <a:off x="2202924" y="4631085"/>
            <a:ext cx="4010025" cy="3084957"/>
          </a:xfrm>
          <a:prstGeom prst="rect">
            <a:avLst/>
          </a:prstGeom>
        </p:spPr>
        <p:txBody>
          <a:bodyPr anchor="t" rtlCol="false" tIns="0" lIns="0" bIns="0" rIns="0">
            <a:spAutoFit/>
          </a:bodyPr>
          <a:lstStyle/>
          <a:p>
            <a:pPr algn="ctr" marL="0" indent="0" lvl="0">
              <a:lnSpc>
                <a:spcPts val="3042"/>
              </a:lnSpc>
            </a:pPr>
            <a:r>
              <a:rPr lang="en-US" sz="2340" strike="noStrike" u="none">
                <a:solidFill>
                  <a:srgbClr val="F5F5F5"/>
                </a:solidFill>
                <a:latin typeface="Codec Pro"/>
                <a:ea typeface="Codec Pro"/>
                <a:cs typeface="Codec Pro"/>
                <a:sym typeface="Codec Pro"/>
              </a:rPr>
              <a:t>L'architecture AkkaScala est composée de quatre </a:t>
            </a:r>
            <a:r>
              <a:rPr lang="en-US" b="true" sz="2340" strike="noStrike" u="none">
                <a:solidFill>
                  <a:srgbClr val="F5F5F5"/>
                </a:solidFill>
                <a:latin typeface="Codec Pro Bold"/>
                <a:ea typeface="Codec Pro Bold"/>
                <a:cs typeface="Codec Pro Bold"/>
                <a:sym typeface="Codec Pro Bold"/>
              </a:rPr>
              <a:t>éléments clés</a:t>
            </a:r>
            <a:r>
              <a:rPr lang="en-US" sz="2340" strike="noStrike" u="none">
                <a:solidFill>
                  <a:srgbClr val="F5F5F5"/>
                </a:solidFill>
                <a:latin typeface="Codec Pro"/>
                <a:ea typeface="Codec Pro"/>
                <a:cs typeface="Codec Pro"/>
                <a:sym typeface="Codec Pro"/>
              </a:rPr>
              <a:t> : Banque, Compte, ProtocoleBancaire et FrontServer, qui interagissent pour assurer une gestion efficace des opérations bancaires.</a:t>
            </a:r>
          </a:p>
        </p:txBody>
      </p:sp>
      <p:sp>
        <p:nvSpPr>
          <p:cNvPr name="TextBox 16" id="16"/>
          <p:cNvSpPr txBox="true"/>
          <p:nvPr/>
        </p:nvSpPr>
        <p:spPr>
          <a:xfrm rot="0">
            <a:off x="7187937" y="4631085"/>
            <a:ext cx="4010025" cy="2703957"/>
          </a:xfrm>
          <a:prstGeom prst="rect">
            <a:avLst/>
          </a:prstGeom>
        </p:spPr>
        <p:txBody>
          <a:bodyPr anchor="t" rtlCol="false" tIns="0" lIns="0" bIns="0" rIns="0">
            <a:spAutoFit/>
          </a:bodyPr>
          <a:lstStyle/>
          <a:p>
            <a:pPr algn="ctr" marL="0" indent="0" lvl="0">
              <a:lnSpc>
                <a:spcPts val="3042"/>
              </a:lnSpc>
            </a:pPr>
            <a:r>
              <a:rPr lang="en-US" sz="2340" strike="noStrike" u="none">
                <a:solidFill>
                  <a:srgbClr val="F5F5F5"/>
                </a:solidFill>
                <a:latin typeface="Codec Pro"/>
                <a:ea typeface="Codec Pro"/>
                <a:cs typeface="Codec Pro"/>
                <a:sym typeface="Codec Pro"/>
              </a:rPr>
              <a:t>La Banque crée et gère les </a:t>
            </a:r>
            <a:r>
              <a:rPr lang="en-US" b="true" sz="2340" strike="noStrike" u="none">
                <a:solidFill>
                  <a:srgbClr val="F5F5F5"/>
                </a:solidFill>
                <a:latin typeface="Codec Pro Bold"/>
                <a:ea typeface="Codec Pro Bold"/>
                <a:cs typeface="Codec Pro Bold"/>
                <a:sym typeface="Codec Pro Bold"/>
              </a:rPr>
              <a:t>comptes utilisateurs</a:t>
            </a:r>
            <a:r>
              <a:rPr lang="en-US" sz="2340" strike="noStrike" u="none">
                <a:solidFill>
                  <a:srgbClr val="F5F5F5"/>
                </a:solidFill>
                <a:latin typeface="Codec Pro"/>
                <a:ea typeface="Codec Pro"/>
                <a:cs typeface="Codec Pro"/>
                <a:sym typeface="Codec Pro"/>
              </a:rPr>
              <a:t>, route les opérations et agrège les soldes, permettant ainsi une supervision centralisée et une réactivité optimale face aux transactions.</a:t>
            </a:r>
          </a:p>
        </p:txBody>
      </p:sp>
      <p:sp>
        <p:nvSpPr>
          <p:cNvPr name="TextBox 17" id="17"/>
          <p:cNvSpPr txBox="true"/>
          <p:nvPr/>
        </p:nvSpPr>
        <p:spPr>
          <a:xfrm rot="0">
            <a:off x="12172950" y="4631085"/>
            <a:ext cx="4010025" cy="3465957"/>
          </a:xfrm>
          <a:prstGeom prst="rect">
            <a:avLst/>
          </a:prstGeom>
        </p:spPr>
        <p:txBody>
          <a:bodyPr anchor="t" rtlCol="false" tIns="0" lIns="0" bIns="0" rIns="0">
            <a:spAutoFit/>
          </a:bodyPr>
          <a:lstStyle/>
          <a:p>
            <a:pPr algn="ctr" marL="0" indent="0" lvl="0">
              <a:lnSpc>
                <a:spcPts val="3042"/>
              </a:lnSpc>
            </a:pPr>
            <a:r>
              <a:rPr lang="en-US" sz="2340" strike="noStrike" u="none">
                <a:solidFill>
                  <a:srgbClr val="F5F5F5"/>
                </a:solidFill>
                <a:latin typeface="Codec Pro"/>
                <a:ea typeface="Codec Pro"/>
                <a:cs typeface="Codec Pro"/>
                <a:sym typeface="Codec Pro"/>
              </a:rPr>
              <a:t>La gestion de la </a:t>
            </a:r>
            <a:r>
              <a:rPr lang="en-US" b="true" sz="2340" strike="noStrike" u="none">
                <a:solidFill>
                  <a:srgbClr val="F5F5F5"/>
                </a:solidFill>
                <a:latin typeface="Codec Pro Bold"/>
                <a:ea typeface="Codec Pro Bold"/>
                <a:cs typeface="Codec Pro Bold"/>
                <a:sym typeface="Codec Pro Bold"/>
              </a:rPr>
              <a:t>concurrence</a:t>
            </a:r>
            <a:r>
              <a:rPr lang="en-US" sz="2340" strike="noStrike" u="none">
                <a:solidFill>
                  <a:srgbClr val="F5F5F5"/>
                </a:solidFill>
                <a:latin typeface="Codec Pro"/>
                <a:ea typeface="Codec Pro"/>
                <a:cs typeface="Codec Pro"/>
                <a:sym typeface="Codec Pro"/>
              </a:rPr>
              <a:t> est réalisée par une réservation atomique, garantissant que les opérations critiques, comme les virements, soient sécurisées, avec un système de rollback automatique en cas d'erreur.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1800225" y="3352800"/>
            <a:ext cx="4619625" cy="3231344"/>
            <a:chOff x="0" y="0"/>
            <a:chExt cx="650279" cy="454859"/>
          </a:xfrm>
        </p:grpSpPr>
        <p:sp>
          <p:nvSpPr>
            <p:cNvPr name="Freeform 6" id="6"/>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2"/>
              <a:stretch>
                <a:fillRect l="-232" t="0" r="-232" b="0"/>
              </a:stretch>
            </a:blipFill>
            <a:ln w="38100" cap="rnd">
              <a:solidFill>
                <a:srgbClr val="000000"/>
              </a:solidFill>
              <a:prstDash val="solid"/>
              <a:round/>
            </a:ln>
          </p:spPr>
        </p:sp>
      </p:grpSp>
      <p:grpSp>
        <p:nvGrpSpPr>
          <p:cNvPr name="Group 7" id="7"/>
          <p:cNvGrpSpPr/>
          <p:nvPr/>
        </p:nvGrpSpPr>
        <p:grpSpPr>
          <a:xfrm rot="0">
            <a:off x="6834188" y="3352800"/>
            <a:ext cx="4619625" cy="3231344"/>
            <a:chOff x="0" y="0"/>
            <a:chExt cx="650279" cy="454859"/>
          </a:xfrm>
        </p:grpSpPr>
        <p:sp>
          <p:nvSpPr>
            <p:cNvPr name="Freeform 8" id="8"/>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3"/>
              <a:stretch>
                <a:fillRect l="-232" t="0" r="-232" b="0"/>
              </a:stretch>
            </a:blipFill>
            <a:ln w="38100" cap="rnd">
              <a:solidFill>
                <a:srgbClr val="000000"/>
              </a:solidFill>
              <a:prstDash val="solid"/>
              <a:round/>
            </a:ln>
          </p:spPr>
        </p:sp>
      </p:grpSp>
      <p:grpSp>
        <p:nvGrpSpPr>
          <p:cNvPr name="Group 9" id="9"/>
          <p:cNvGrpSpPr/>
          <p:nvPr/>
        </p:nvGrpSpPr>
        <p:grpSpPr>
          <a:xfrm rot="0">
            <a:off x="11865501" y="3352800"/>
            <a:ext cx="4623063" cy="3231344"/>
            <a:chOff x="0" y="0"/>
            <a:chExt cx="650763" cy="454859"/>
          </a:xfrm>
        </p:grpSpPr>
        <p:sp>
          <p:nvSpPr>
            <p:cNvPr name="Freeform 10" id="10"/>
            <p:cNvSpPr/>
            <p:nvPr/>
          </p:nvSpPr>
          <p:spPr>
            <a:xfrm flipH="false" flipV="false" rot="0">
              <a:off x="0" y="0"/>
              <a:ext cx="650763" cy="454859"/>
            </a:xfrm>
            <a:custGeom>
              <a:avLst/>
              <a:gdLst/>
              <a:ahLst/>
              <a:cxnLst/>
              <a:rect r="r" b="b" t="t" l="l"/>
              <a:pathLst>
                <a:path h="454859" w="650763">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4"/>
              <a:stretch>
                <a:fillRect l="-194" t="0" r="-194" b="0"/>
              </a:stretch>
            </a:blipFill>
            <a:ln w="38100" cap="rnd">
              <a:solidFill>
                <a:srgbClr val="000000"/>
              </a:solidFill>
              <a:prstDash val="solid"/>
              <a:round/>
            </a:ln>
          </p:spPr>
        </p:sp>
      </p:grpSp>
      <p:grpSp>
        <p:nvGrpSpPr>
          <p:cNvPr name="Group 11" id="11"/>
          <p:cNvGrpSpPr/>
          <p:nvPr/>
        </p:nvGrpSpPr>
        <p:grpSpPr>
          <a:xfrm rot="0">
            <a:off x="1800225" y="6934200"/>
            <a:ext cx="4619625" cy="1196340"/>
            <a:chOff x="0" y="0"/>
            <a:chExt cx="6159500" cy="1595120"/>
          </a:xfrm>
        </p:grpSpPr>
        <p:sp>
          <p:nvSpPr>
            <p:cNvPr name="TextBox 12" id="12"/>
            <p:cNvSpPr txBox="true"/>
            <p:nvPr/>
          </p:nvSpPr>
          <p:spPr>
            <a:xfrm rot="0">
              <a:off x="0" y="527685"/>
              <a:ext cx="6159500" cy="10674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Scala maison pour le cahier des charges.</a:t>
              </a:r>
            </a:p>
          </p:txBody>
        </p:sp>
        <p:sp>
          <p:nvSpPr>
            <p:cNvPr name="TextBox 13" id="13"/>
            <p:cNvSpPr txBox="true"/>
            <p:nvPr/>
          </p:nvSpPr>
          <p:spPr>
            <a:xfrm rot="0">
              <a:off x="0" y="-66675"/>
              <a:ext cx="6159500"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Implémentation</a:t>
              </a:r>
            </a:p>
          </p:txBody>
        </p:sp>
      </p:grpSp>
      <p:grpSp>
        <p:nvGrpSpPr>
          <p:cNvPr name="Group 14" id="14"/>
          <p:cNvGrpSpPr/>
          <p:nvPr/>
        </p:nvGrpSpPr>
        <p:grpSpPr>
          <a:xfrm rot="0">
            <a:off x="6834188" y="6934200"/>
            <a:ext cx="4479254" cy="1196340"/>
            <a:chOff x="0" y="0"/>
            <a:chExt cx="5972338" cy="1595120"/>
          </a:xfrm>
        </p:grpSpPr>
        <p:sp>
          <p:nvSpPr>
            <p:cNvPr name="TextBox 15" id="15"/>
            <p:cNvSpPr txBox="true"/>
            <p:nvPr/>
          </p:nvSpPr>
          <p:spPr>
            <a:xfrm rot="0">
              <a:off x="0" y="527685"/>
              <a:ext cx="5972338" cy="10674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Représentation des états disponibles et verrouillés.</a:t>
              </a:r>
            </a:p>
          </p:txBody>
        </p:sp>
        <p:sp>
          <p:nvSpPr>
            <p:cNvPr name="TextBox 16" id="16"/>
            <p:cNvSpPr txBox="true"/>
            <p:nvPr/>
          </p:nvSpPr>
          <p:spPr>
            <a:xfrm rot="0">
              <a:off x="0" y="-66675"/>
              <a:ext cx="5972338"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Places clés</a:t>
              </a:r>
            </a:p>
          </p:txBody>
        </p:sp>
      </p:grpSp>
      <p:grpSp>
        <p:nvGrpSpPr>
          <p:cNvPr name="Group 17" id="17"/>
          <p:cNvGrpSpPr/>
          <p:nvPr/>
        </p:nvGrpSpPr>
        <p:grpSpPr>
          <a:xfrm rot="0">
            <a:off x="11868150" y="6934200"/>
            <a:ext cx="4620413" cy="1196340"/>
            <a:chOff x="0" y="0"/>
            <a:chExt cx="6160551" cy="1595120"/>
          </a:xfrm>
        </p:grpSpPr>
        <p:sp>
          <p:nvSpPr>
            <p:cNvPr name="TextBox 18" id="18"/>
            <p:cNvSpPr txBox="true"/>
            <p:nvPr/>
          </p:nvSpPr>
          <p:spPr>
            <a:xfrm rot="0">
              <a:off x="0" y="527685"/>
              <a:ext cx="6160551" cy="10674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Illustrent le mouvement entre les états du système.</a:t>
              </a:r>
            </a:p>
          </p:txBody>
        </p:sp>
        <p:sp>
          <p:nvSpPr>
            <p:cNvPr name="TextBox 19" id="19"/>
            <p:cNvSpPr txBox="true"/>
            <p:nvPr/>
          </p:nvSpPr>
          <p:spPr>
            <a:xfrm rot="0">
              <a:off x="0" y="-66675"/>
              <a:ext cx="6160551"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Transitions</a:t>
              </a:r>
            </a:p>
          </p:txBody>
        </p:sp>
      </p:grpSp>
      <p:sp>
        <p:nvSpPr>
          <p:cNvPr name="TextBox 20" id="20"/>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Modèle formel : Réseau de Pétri</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169545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Vérification des propriétés structurelles du système</a:t>
            </a:r>
          </a:p>
        </p:txBody>
      </p:sp>
      <p:grpSp>
        <p:nvGrpSpPr>
          <p:cNvPr name="Group 15" id="15"/>
          <p:cNvGrpSpPr/>
          <p:nvPr/>
        </p:nvGrpSpPr>
        <p:grpSpPr>
          <a:xfrm rot="0">
            <a:off x="2105025" y="4248150"/>
            <a:ext cx="4010025" cy="2758440"/>
            <a:chOff x="0" y="0"/>
            <a:chExt cx="5346700" cy="3677920"/>
          </a:xfrm>
        </p:grpSpPr>
        <p:sp>
          <p:nvSpPr>
            <p:cNvPr name="TextBox 16" id="16"/>
            <p:cNvSpPr txBox="true"/>
            <p:nvPr/>
          </p:nvSpPr>
          <p:spPr>
            <a:xfrm rot="0">
              <a:off x="0" y="527685"/>
              <a:ext cx="5346700" cy="31502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Le système garantit qu'aucun marquage atteignable ne doit être terminal, assurant ainsi une continuité des opérations sans blocage.</a:t>
              </a:r>
            </a:p>
          </p:txBody>
        </p:sp>
        <p:sp>
          <p:nvSpPr>
            <p:cNvPr name="TextBox 17" id="17"/>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Absence de deadlock</a:t>
              </a:r>
            </a:p>
          </p:txBody>
        </p:sp>
      </p:grpSp>
      <p:grpSp>
        <p:nvGrpSpPr>
          <p:cNvPr name="Group 18" id="18"/>
          <p:cNvGrpSpPr/>
          <p:nvPr/>
        </p:nvGrpSpPr>
        <p:grpSpPr>
          <a:xfrm rot="0">
            <a:off x="7138988" y="4248150"/>
            <a:ext cx="4010025" cy="2758440"/>
            <a:chOff x="0" y="0"/>
            <a:chExt cx="5346700" cy="3677920"/>
          </a:xfrm>
        </p:grpSpPr>
        <p:sp>
          <p:nvSpPr>
            <p:cNvPr name="TextBox 19" id="19"/>
            <p:cNvSpPr txBox="true"/>
            <p:nvPr/>
          </p:nvSpPr>
          <p:spPr>
            <a:xfrm rot="0">
              <a:off x="0" y="527685"/>
              <a:ext cx="5346700" cy="31502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Les transitions critiques peuvent toujours redevenir exécutables, garantissant que toutes les actions souhaitées finissent par se produire dans le système.</a:t>
              </a:r>
            </a:p>
          </p:txBody>
        </p:sp>
        <p:sp>
          <p:nvSpPr>
            <p:cNvPr name="TextBox 20" id="20"/>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Vivacité</a:t>
              </a:r>
            </a:p>
          </p:txBody>
        </p:sp>
      </p:grpSp>
      <p:grpSp>
        <p:nvGrpSpPr>
          <p:cNvPr name="Group 21" id="21"/>
          <p:cNvGrpSpPr/>
          <p:nvPr/>
        </p:nvGrpSpPr>
        <p:grpSpPr>
          <a:xfrm rot="0">
            <a:off x="12172950" y="4248213"/>
            <a:ext cx="4010025" cy="2758440"/>
            <a:chOff x="0" y="0"/>
            <a:chExt cx="5346700" cy="3677920"/>
          </a:xfrm>
        </p:grpSpPr>
        <p:sp>
          <p:nvSpPr>
            <p:cNvPr name="TextBox 22" id="22"/>
            <p:cNvSpPr txBox="true"/>
            <p:nvPr/>
          </p:nvSpPr>
          <p:spPr>
            <a:xfrm rot="0">
              <a:off x="0" y="527685"/>
              <a:ext cx="5346700" cy="3150235"/>
            </a:xfrm>
            <a:prstGeom prst="rect">
              <a:avLst/>
            </a:prstGeom>
          </p:spPr>
          <p:txBody>
            <a:bodyPr anchor="t" rtlCol="false" tIns="0" lIns="0" bIns="0" rIns="0">
              <a:spAutoFit/>
            </a:bodyPr>
            <a:lstStyle/>
            <a:p>
              <a:pPr algn="ctr" marL="0" indent="0" lvl="0">
                <a:lnSpc>
                  <a:spcPts val="3120"/>
                </a:lnSpc>
              </a:pPr>
              <a:r>
                <a:rPr lang="en-US" sz="2400" strike="noStrike" u="none">
                  <a:solidFill>
                    <a:srgbClr val="F5F5F5"/>
                  </a:solidFill>
                  <a:latin typeface="Codec Pro"/>
                  <a:ea typeface="Codec Pro"/>
                  <a:cs typeface="Codec Pro"/>
                  <a:sym typeface="Codec Pro"/>
                </a:rPr>
                <a:t>Le nombre de jetons dans chaque place reste borné, préservant ainsi la cohérence des opérations et évitant les surcharges dans le système.</a:t>
              </a:r>
            </a:p>
          </p:txBody>
        </p:sp>
        <p:sp>
          <p:nvSpPr>
            <p:cNvPr name="TextBox 23" id="23"/>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Bornitude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1800225" y="3352800"/>
            <a:ext cx="7191375" cy="3231344"/>
            <a:chOff x="0" y="0"/>
            <a:chExt cx="1012290" cy="454859"/>
          </a:xfrm>
        </p:grpSpPr>
        <p:sp>
          <p:nvSpPr>
            <p:cNvPr name="Freeform 6" id="6"/>
            <p:cNvSpPr/>
            <p:nvPr/>
          </p:nvSpPr>
          <p:spPr>
            <a:xfrm flipH="false" flipV="false" rot="0">
              <a:off x="0" y="0"/>
              <a:ext cx="1012290" cy="454859"/>
            </a:xfrm>
            <a:custGeom>
              <a:avLst/>
              <a:gdLst/>
              <a:ahLst/>
              <a:cxnLst/>
              <a:rect r="r" b="b" t="t" l="l"/>
              <a:pathLst>
                <a:path h="454859" w="1012290">
                  <a:moveTo>
                    <a:pt x="53828" y="0"/>
                  </a:moveTo>
                  <a:lnTo>
                    <a:pt x="958463" y="0"/>
                  </a:lnTo>
                  <a:cubicBezTo>
                    <a:pt x="988191" y="0"/>
                    <a:pt x="1012290" y="24100"/>
                    <a:pt x="1012290" y="53828"/>
                  </a:cubicBezTo>
                  <a:lnTo>
                    <a:pt x="1012290" y="401031"/>
                  </a:lnTo>
                  <a:cubicBezTo>
                    <a:pt x="1012290" y="430759"/>
                    <a:pt x="988191" y="454859"/>
                    <a:pt x="958463" y="454859"/>
                  </a:cubicBezTo>
                  <a:lnTo>
                    <a:pt x="53828" y="454859"/>
                  </a:lnTo>
                  <a:cubicBezTo>
                    <a:pt x="24100" y="454859"/>
                    <a:pt x="0" y="430759"/>
                    <a:pt x="0" y="401031"/>
                  </a:cubicBezTo>
                  <a:lnTo>
                    <a:pt x="0" y="53828"/>
                  </a:lnTo>
                  <a:cubicBezTo>
                    <a:pt x="0" y="24100"/>
                    <a:pt x="24100" y="0"/>
                    <a:pt x="53828" y="0"/>
                  </a:cubicBezTo>
                  <a:close/>
                </a:path>
              </a:pathLst>
            </a:custGeom>
            <a:blipFill>
              <a:blip r:embed="rId2"/>
              <a:stretch>
                <a:fillRect l="-487" t="0" r="-487" b="0"/>
              </a:stretch>
            </a:blipFill>
            <a:ln w="38100" cap="rnd">
              <a:solidFill>
                <a:srgbClr val="000000"/>
              </a:solidFill>
              <a:prstDash val="solid"/>
              <a:round/>
            </a:ln>
          </p:spPr>
        </p:sp>
      </p:grpSp>
      <p:grpSp>
        <p:nvGrpSpPr>
          <p:cNvPr name="Group 7" id="7"/>
          <p:cNvGrpSpPr/>
          <p:nvPr/>
        </p:nvGrpSpPr>
        <p:grpSpPr>
          <a:xfrm rot="0">
            <a:off x="9296400" y="3352800"/>
            <a:ext cx="7191375" cy="3231344"/>
            <a:chOff x="0" y="0"/>
            <a:chExt cx="1012290" cy="454859"/>
          </a:xfrm>
        </p:grpSpPr>
        <p:sp>
          <p:nvSpPr>
            <p:cNvPr name="Freeform 8" id="8"/>
            <p:cNvSpPr/>
            <p:nvPr/>
          </p:nvSpPr>
          <p:spPr>
            <a:xfrm flipH="false" flipV="false" rot="0">
              <a:off x="0" y="0"/>
              <a:ext cx="1012290" cy="454859"/>
            </a:xfrm>
            <a:custGeom>
              <a:avLst/>
              <a:gdLst/>
              <a:ahLst/>
              <a:cxnLst/>
              <a:rect r="r" b="b" t="t" l="l"/>
              <a:pathLst>
                <a:path h="454859" w="1012290">
                  <a:moveTo>
                    <a:pt x="53828" y="0"/>
                  </a:moveTo>
                  <a:lnTo>
                    <a:pt x="958463" y="0"/>
                  </a:lnTo>
                  <a:cubicBezTo>
                    <a:pt x="988191" y="0"/>
                    <a:pt x="1012290" y="24100"/>
                    <a:pt x="1012290" y="53828"/>
                  </a:cubicBezTo>
                  <a:lnTo>
                    <a:pt x="1012290" y="401031"/>
                  </a:lnTo>
                  <a:cubicBezTo>
                    <a:pt x="1012290" y="430759"/>
                    <a:pt x="988191" y="454859"/>
                    <a:pt x="958463" y="454859"/>
                  </a:cubicBezTo>
                  <a:lnTo>
                    <a:pt x="53828" y="454859"/>
                  </a:lnTo>
                  <a:cubicBezTo>
                    <a:pt x="24100" y="454859"/>
                    <a:pt x="0" y="430759"/>
                    <a:pt x="0" y="401031"/>
                  </a:cubicBezTo>
                  <a:lnTo>
                    <a:pt x="0" y="53828"/>
                  </a:lnTo>
                  <a:cubicBezTo>
                    <a:pt x="0" y="24100"/>
                    <a:pt x="24100" y="0"/>
                    <a:pt x="53828" y="0"/>
                  </a:cubicBezTo>
                  <a:close/>
                </a:path>
              </a:pathLst>
            </a:custGeom>
            <a:blipFill>
              <a:blip r:embed="rId3"/>
              <a:stretch>
                <a:fillRect l="-487" t="0" r="-487" b="0"/>
              </a:stretch>
            </a:blipFill>
            <a:ln w="38100" cap="rnd">
              <a:solidFill>
                <a:srgbClr val="000000"/>
              </a:solidFill>
              <a:prstDash val="solid"/>
              <a:round/>
            </a:ln>
          </p:spPr>
        </p:sp>
      </p:grpSp>
      <p:grpSp>
        <p:nvGrpSpPr>
          <p:cNvPr name="Group 9" id="9"/>
          <p:cNvGrpSpPr/>
          <p:nvPr/>
        </p:nvGrpSpPr>
        <p:grpSpPr>
          <a:xfrm rot="0">
            <a:off x="1800225" y="6934200"/>
            <a:ext cx="7028576" cy="805829"/>
            <a:chOff x="0" y="0"/>
            <a:chExt cx="9371435" cy="1074438"/>
          </a:xfrm>
        </p:grpSpPr>
        <p:sp>
          <p:nvSpPr>
            <p:cNvPr name="TextBox 10" id="10"/>
            <p:cNvSpPr txBox="true"/>
            <p:nvPr/>
          </p:nvSpPr>
          <p:spPr>
            <a:xfrm rot="0">
              <a:off x="0" y="527703"/>
              <a:ext cx="9371435" cy="5467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Structure d'arbre pour la syntaxe de LTL.</a:t>
              </a:r>
            </a:p>
          </p:txBody>
        </p:sp>
        <p:sp>
          <p:nvSpPr>
            <p:cNvPr name="TextBox 11" id="11"/>
            <p:cNvSpPr txBox="true"/>
            <p:nvPr/>
          </p:nvSpPr>
          <p:spPr>
            <a:xfrm rot="0">
              <a:off x="0" y="-66675"/>
              <a:ext cx="9371435"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AST</a:t>
              </a:r>
            </a:p>
          </p:txBody>
        </p:sp>
      </p:grpSp>
      <p:grpSp>
        <p:nvGrpSpPr>
          <p:cNvPr name="Group 12" id="12"/>
          <p:cNvGrpSpPr/>
          <p:nvPr/>
        </p:nvGrpSpPr>
        <p:grpSpPr>
          <a:xfrm rot="0">
            <a:off x="9459199" y="6934200"/>
            <a:ext cx="6815006" cy="805829"/>
            <a:chOff x="0" y="0"/>
            <a:chExt cx="9086675" cy="1074438"/>
          </a:xfrm>
        </p:grpSpPr>
        <p:sp>
          <p:nvSpPr>
            <p:cNvPr name="TextBox 13" id="13"/>
            <p:cNvSpPr txBox="true"/>
            <p:nvPr/>
          </p:nvSpPr>
          <p:spPr>
            <a:xfrm rot="0">
              <a:off x="0" y="527703"/>
              <a:ext cx="9086675" cy="5467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Booléens et temporels pour la vérification.</a:t>
              </a:r>
            </a:p>
          </p:txBody>
        </p:sp>
        <p:sp>
          <p:nvSpPr>
            <p:cNvPr name="TextBox 14" id="14"/>
            <p:cNvSpPr txBox="true"/>
            <p:nvPr/>
          </p:nvSpPr>
          <p:spPr>
            <a:xfrm rot="0">
              <a:off x="0" y="-66675"/>
              <a:ext cx="9086675"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Opérateurs</a:t>
              </a:r>
            </a:p>
          </p:txBody>
        </p:sp>
      </p:grpSp>
      <p:sp>
        <p:nvSpPr>
          <p:cNvPr name="TextBox 15" id="15"/>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Implémentation du Parseur LTL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1800225" y="3352800"/>
            <a:ext cx="4619625" cy="3231344"/>
            <a:chOff x="0" y="0"/>
            <a:chExt cx="650279" cy="454859"/>
          </a:xfrm>
        </p:grpSpPr>
        <p:sp>
          <p:nvSpPr>
            <p:cNvPr name="Freeform 6" id="6"/>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2"/>
              <a:stretch>
                <a:fillRect l="-232" t="0" r="-232" b="0"/>
              </a:stretch>
            </a:blipFill>
            <a:ln w="38100" cap="rnd">
              <a:solidFill>
                <a:srgbClr val="000000"/>
              </a:solidFill>
              <a:prstDash val="solid"/>
              <a:round/>
            </a:ln>
          </p:spPr>
        </p:sp>
      </p:grpSp>
      <p:grpSp>
        <p:nvGrpSpPr>
          <p:cNvPr name="Group 7" id="7"/>
          <p:cNvGrpSpPr/>
          <p:nvPr/>
        </p:nvGrpSpPr>
        <p:grpSpPr>
          <a:xfrm rot="0">
            <a:off x="6834188" y="3352800"/>
            <a:ext cx="4619625" cy="3231344"/>
            <a:chOff x="0" y="0"/>
            <a:chExt cx="650279" cy="454859"/>
          </a:xfrm>
        </p:grpSpPr>
        <p:sp>
          <p:nvSpPr>
            <p:cNvPr name="Freeform 8" id="8"/>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3"/>
              <a:stretch>
                <a:fillRect l="-232" t="0" r="-232" b="0"/>
              </a:stretch>
            </a:blipFill>
            <a:ln w="38100" cap="rnd">
              <a:solidFill>
                <a:srgbClr val="000000"/>
              </a:solidFill>
              <a:prstDash val="solid"/>
              <a:round/>
            </a:ln>
          </p:spPr>
        </p:sp>
      </p:grpSp>
      <p:grpSp>
        <p:nvGrpSpPr>
          <p:cNvPr name="Group 9" id="9"/>
          <p:cNvGrpSpPr/>
          <p:nvPr/>
        </p:nvGrpSpPr>
        <p:grpSpPr>
          <a:xfrm rot="0">
            <a:off x="11865501" y="3352800"/>
            <a:ext cx="4623063" cy="3231344"/>
            <a:chOff x="0" y="0"/>
            <a:chExt cx="650763" cy="454859"/>
          </a:xfrm>
        </p:grpSpPr>
        <p:sp>
          <p:nvSpPr>
            <p:cNvPr name="Freeform 10" id="10"/>
            <p:cNvSpPr/>
            <p:nvPr/>
          </p:nvSpPr>
          <p:spPr>
            <a:xfrm flipH="false" flipV="false" rot="0">
              <a:off x="0" y="0"/>
              <a:ext cx="650763" cy="454859"/>
            </a:xfrm>
            <a:custGeom>
              <a:avLst/>
              <a:gdLst/>
              <a:ahLst/>
              <a:cxnLst/>
              <a:rect r="r" b="b" t="t" l="l"/>
              <a:pathLst>
                <a:path h="454859" w="650763">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4"/>
              <a:stretch>
                <a:fillRect l="-194" t="0" r="-194" b="0"/>
              </a:stretch>
            </a:blipFill>
            <a:ln w="38100" cap="rnd">
              <a:solidFill>
                <a:srgbClr val="000000"/>
              </a:solidFill>
              <a:prstDash val="solid"/>
              <a:round/>
            </a:ln>
          </p:spPr>
        </p:sp>
      </p:grpSp>
      <p:grpSp>
        <p:nvGrpSpPr>
          <p:cNvPr name="Group 11" id="11"/>
          <p:cNvGrpSpPr/>
          <p:nvPr/>
        </p:nvGrpSpPr>
        <p:grpSpPr>
          <a:xfrm rot="0">
            <a:off x="1800225" y="6934200"/>
            <a:ext cx="4619625" cy="1196340"/>
            <a:chOff x="0" y="0"/>
            <a:chExt cx="6159500" cy="1595120"/>
          </a:xfrm>
        </p:grpSpPr>
        <p:sp>
          <p:nvSpPr>
            <p:cNvPr name="TextBox 12" id="12"/>
            <p:cNvSpPr txBox="true"/>
            <p:nvPr/>
          </p:nvSpPr>
          <p:spPr>
            <a:xfrm rot="0">
              <a:off x="0" y="527685"/>
              <a:ext cx="6159500" cy="10674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Garantit que le solde reste positif</a:t>
              </a:r>
            </a:p>
          </p:txBody>
        </p:sp>
        <p:sp>
          <p:nvSpPr>
            <p:cNvPr name="TextBox 13" id="13"/>
            <p:cNvSpPr txBox="true"/>
            <p:nvPr/>
          </p:nvSpPr>
          <p:spPr>
            <a:xfrm rot="0">
              <a:off x="0" y="-66675"/>
              <a:ext cx="6159500"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Sûreté</a:t>
              </a:r>
            </a:p>
          </p:txBody>
        </p:sp>
      </p:grpSp>
      <p:grpSp>
        <p:nvGrpSpPr>
          <p:cNvPr name="Group 14" id="14"/>
          <p:cNvGrpSpPr/>
          <p:nvPr/>
        </p:nvGrpSpPr>
        <p:grpSpPr>
          <a:xfrm rot="0">
            <a:off x="6834188" y="6934200"/>
            <a:ext cx="4479254" cy="1196340"/>
            <a:chOff x="0" y="0"/>
            <a:chExt cx="5972338" cy="1595120"/>
          </a:xfrm>
        </p:grpSpPr>
        <p:sp>
          <p:nvSpPr>
            <p:cNvPr name="TextBox 15" id="15"/>
            <p:cNvSpPr txBox="true"/>
            <p:nvPr/>
          </p:nvSpPr>
          <p:spPr>
            <a:xfrm rot="0">
              <a:off x="0" y="527685"/>
              <a:ext cx="5972338" cy="10674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Assure que les dépôts sont disponibles</a:t>
              </a:r>
            </a:p>
          </p:txBody>
        </p:sp>
        <p:sp>
          <p:nvSpPr>
            <p:cNvPr name="TextBox 16" id="16"/>
            <p:cNvSpPr txBox="true"/>
            <p:nvPr/>
          </p:nvSpPr>
          <p:spPr>
            <a:xfrm rot="0">
              <a:off x="0" y="-66675"/>
              <a:ext cx="5972338"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Vivacité</a:t>
              </a:r>
            </a:p>
          </p:txBody>
        </p:sp>
      </p:grpSp>
      <p:grpSp>
        <p:nvGrpSpPr>
          <p:cNvPr name="Group 17" id="17"/>
          <p:cNvGrpSpPr/>
          <p:nvPr/>
        </p:nvGrpSpPr>
        <p:grpSpPr>
          <a:xfrm rot="0">
            <a:off x="11868150" y="6934200"/>
            <a:ext cx="4620413" cy="1196340"/>
            <a:chOff x="0" y="0"/>
            <a:chExt cx="6160551" cy="1595120"/>
          </a:xfrm>
        </p:grpSpPr>
        <p:sp>
          <p:nvSpPr>
            <p:cNvPr name="TextBox 18" id="18"/>
            <p:cNvSpPr txBox="true"/>
            <p:nvPr/>
          </p:nvSpPr>
          <p:spPr>
            <a:xfrm rot="0">
              <a:off x="0" y="527685"/>
              <a:ext cx="6160551" cy="10674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Aucun état ne doit rester bloqué</a:t>
              </a:r>
            </a:p>
          </p:txBody>
        </p:sp>
        <p:sp>
          <p:nvSpPr>
            <p:cNvPr name="TextBox 19" id="19"/>
            <p:cNvSpPr txBox="true"/>
            <p:nvPr/>
          </p:nvSpPr>
          <p:spPr>
            <a:xfrm rot="0">
              <a:off x="0" y="-66675"/>
              <a:ext cx="6160551" cy="559435"/>
            </a:xfrm>
            <a:prstGeom prst="rect">
              <a:avLst/>
            </a:prstGeom>
          </p:spPr>
          <p:txBody>
            <a:bodyPr anchor="t" rtlCol="false" tIns="0" lIns="0" bIns="0" rIns="0">
              <a:spAutoFit/>
            </a:bodyPr>
            <a:lstStyle/>
            <a:p>
              <a:pPr algn="ctr" marL="0" indent="0" lvl="0">
                <a:lnSpc>
                  <a:spcPts val="3120"/>
                </a:lnSpc>
              </a:pPr>
              <a:r>
                <a:rPr lang="en-US" b="true" sz="2400">
                  <a:solidFill>
                    <a:srgbClr val="C5CAE9"/>
                  </a:solidFill>
                  <a:latin typeface="Codec Pro Ultra-Bold"/>
                  <a:ea typeface="Codec Pro Ultra-Bold"/>
                  <a:cs typeface="Codec Pro Ultra-Bold"/>
                  <a:sym typeface="Codec Pro Ultra-Bold"/>
                </a:rPr>
                <a:t>Absence de Deadlock</a:t>
              </a:r>
            </a:p>
          </p:txBody>
        </p:sp>
      </p:grpSp>
      <p:sp>
        <p:nvSpPr>
          <p:cNvPr name="TextBox 20" id="20"/>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Formules LTL vérifiées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1A237E"/>
            </a:solidFill>
          </p:spPr>
        </p:sp>
      </p:grpSp>
      <p:grpSp>
        <p:nvGrpSpPr>
          <p:cNvPr name="Group 5" id="5"/>
          <p:cNvGrpSpPr/>
          <p:nvPr/>
        </p:nvGrpSpPr>
        <p:grpSpPr>
          <a:xfrm rot="0">
            <a:off x="2994756" y="3726131"/>
            <a:ext cx="3668838" cy="1123378"/>
            <a:chOff x="0" y="0"/>
            <a:chExt cx="4891784" cy="1497838"/>
          </a:xfrm>
        </p:grpSpPr>
        <p:sp>
          <p:nvSpPr>
            <p:cNvPr name="TextBox 6" id="6"/>
            <p:cNvSpPr txBox="true"/>
            <p:nvPr/>
          </p:nvSpPr>
          <p:spPr>
            <a:xfrm rot="0">
              <a:off x="0" y="503809"/>
              <a:ext cx="4891784" cy="994029"/>
            </a:xfrm>
            <a:prstGeom prst="rect">
              <a:avLst/>
            </a:prstGeom>
          </p:spPr>
          <p:txBody>
            <a:bodyPr anchor="t" rtlCol="false" tIns="0" lIns="0" bIns="0" rIns="0">
              <a:spAutoFit/>
            </a:bodyPr>
            <a:lstStyle/>
            <a:p>
              <a:pPr algn="ctr" marL="0" indent="0" lvl="0">
                <a:lnSpc>
                  <a:spcPts val="2905"/>
                </a:lnSpc>
              </a:pPr>
              <a:r>
                <a:rPr lang="en-US" sz="2235">
                  <a:solidFill>
                    <a:srgbClr val="F5F5F5"/>
                  </a:solidFill>
                  <a:latin typeface="Codec Pro"/>
                  <a:ea typeface="Codec Pro"/>
                  <a:cs typeface="Codec Pro"/>
                  <a:sym typeface="Codec Pro"/>
                </a:rPr>
                <a:t>Montant total des comptes affiché clairement.</a:t>
              </a:r>
            </a:p>
          </p:txBody>
        </p:sp>
        <p:sp>
          <p:nvSpPr>
            <p:cNvPr name="TextBox 7" id="7"/>
            <p:cNvSpPr txBox="true"/>
            <p:nvPr/>
          </p:nvSpPr>
          <p:spPr>
            <a:xfrm rot="0">
              <a:off x="0" y="-76200"/>
              <a:ext cx="4891784" cy="545084"/>
            </a:xfrm>
            <a:prstGeom prst="rect">
              <a:avLst/>
            </a:prstGeom>
          </p:spPr>
          <p:txBody>
            <a:bodyPr anchor="t" rtlCol="false" tIns="0" lIns="0" bIns="0" rIns="0">
              <a:spAutoFit/>
            </a:bodyPr>
            <a:lstStyle/>
            <a:p>
              <a:pPr algn="ctr" marL="0" indent="0" lvl="0">
                <a:lnSpc>
                  <a:spcPts val="3003"/>
                </a:lnSpc>
              </a:pPr>
              <a:r>
                <a:rPr lang="en-US" b="true" sz="2310">
                  <a:solidFill>
                    <a:srgbClr val="C5CAE9"/>
                  </a:solidFill>
                  <a:latin typeface="Codec Pro Ultra-Bold"/>
                  <a:ea typeface="Codec Pro Ultra-Bold"/>
                  <a:cs typeface="Codec Pro Ultra-Bold"/>
                  <a:sym typeface="Codec Pro Ultra-Bold"/>
                </a:rPr>
                <a:t>État initial</a:t>
              </a:r>
            </a:p>
          </p:txBody>
        </p:sp>
      </p:grpSp>
      <p:grpSp>
        <p:nvGrpSpPr>
          <p:cNvPr name="Group 8" id="8"/>
          <p:cNvGrpSpPr/>
          <p:nvPr/>
        </p:nvGrpSpPr>
        <p:grpSpPr>
          <a:xfrm rot="0">
            <a:off x="7553325" y="1562100"/>
            <a:ext cx="3181350" cy="1790700"/>
            <a:chOff x="0" y="0"/>
            <a:chExt cx="447821" cy="252067"/>
          </a:xfrm>
        </p:grpSpPr>
        <p:sp>
          <p:nvSpPr>
            <p:cNvPr name="Freeform 9" id="9"/>
            <p:cNvSpPr/>
            <p:nvPr/>
          </p:nvSpPr>
          <p:spPr>
            <a:xfrm flipH="false" flipV="false" rot="0">
              <a:off x="0" y="0"/>
              <a:ext cx="447821" cy="252067"/>
            </a:xfrm>
            <a:custGeom>
              <a:avLst/>
              <a:gdLst/>
              <a:ahLst/>
              <a:cxnLst/>
              <a:rect r="r" b="b" t="t" l="l"/>
              <a:pathLst>
                <a:path h="252067" w="447821">
                  <a:moveTo>
                    <a:pt x="85174" y="0"/>
                  </a:moveTo>
                  <a:lnTo>
                    <a:pt x="362648" y="0"/>
                  </a:lnTo>
                  <a:cubicBezTo>
                    <a:pt x="409688" y="0"/>
                    <a:pt x="447821" y="38134"/>
                    <a:pt x="447821" y="85174"/>
                  </a:cubicBezTo>
                  <a:lnTo>
                    <a:pt x="447821" y="166893"/>
                  </a:lnTo>
                  <a:cubicBezTo>
                    <a:pt x="447821" y="213933"/>
                    <a:pt x="409688" y="252067"/>
                    <a:pt x="362648" y="252067"/>
                  </a:cubicBezTo>
                  <a:lnTo>
                    <a:pt x="85174" y="252067"/>
                  </a:lnTo>
                  <a:cubicBezTo>
                    <a:pt x="38134" y="252067"/>
                    <a:pt x="0" y="213933"/>
                    <a:pt x="0" y="166893"/>
                  </a:cubicBezTo>
                  <a:lnTo>
                    <a:pt x="0" y="85174"/>
                  </a:lnTo>
                  <a:cubicBezTo>
                    <a:pt x="0" y="38134"/>
                    <a:pt x="38134" y="0"/>
                    <a:pt x="85174" y="0"/>
                  </a:cubicBezTo>
                  <a:close/>
                </a:path>
              </a:pathLst>
            </a:custGeom>
            <a:blipFill>
              <a:blip r:embed="rId2"/>
              <a:stretch>
                <a:fillRect l="-256" t="0" r="-256" b="0"/>
              </a:stretch>
            </a:blipFill>
            <a:ln w="38100" cap="rnd">
              <a:solidFill>
                <a:srgbClr val="000000"/>
              </a:solidFill>
              <a:prstDash val="solid"/>
              <a:round/>
            </a:ln>
          </p:spPr>
        </p:sp>
      </p:grpSp>
      <p:grpSp>
        <p:nvGrpSpPr>
          <p:cNvPr name="Group 10" id="10"/>
          <p:cNvGrpSpPr/>
          <p:nvPr/>
        </p:nvGrpSpPr>
        <p:grpSpPr>
          <a:xfrm rot="0">
            <a:off x="3238500" y="1562100"/>
            <a:ext cx="3181350" cy="1790700"/>
            <a:chOff x="0" y="0"/>
            <a:chExt cx="447821" cy="252067"/>
          </a:xfrm>
        </p:grpSpPr>
        <p:sp>
          <p:nvSpPr>
            <p:cNvPr name="Freeform 11" id="11"/>
            <p:cNvSpPr/>
            <p:nvPr/>
          </p:nvSpPr>
          <p:spPr>
            <a:xfrm flipH="false" flipV="false" rot="0">
              <a:off x="0" y="0"/>
              <a:ext cx="447821" cy="252067"/>
            </a:xfrm>
            <a:custGeom>
              <a:avLst/>
              <a:gdLst/>
              <a:ahLst/>
              <a:cxnLst/>
              <a:rect r="r" b="b" t="t" l="l"/>
              <a:pathLst>
                <a:path h="252067" w="447821">
                  <a:moveTo>
                    <a:pt x="85174" y="0"/>
                  </a:moveTo>
                  <a:lnTo>
                    <a:pt x="362648" y="0"/>
                  </a:lnTo>
                  <a:cubicBezTo>
                    <a:pt x="409688" y="0"/>
                    <a:pt x="447821" y="38134"/>
                    <a:pt x="447821" y="85174"/>
                  </a:cubicBezTo>
                  <a:lnTo>
                    <a:pt x="447821" y="166893"/>
                  </a:lnTo>
                  <a:cubicBezTo>
                    <a:pt x="447821" y="213933"/>
                    <a:pt x="409688" y="252067"/>
                    <a:pt x="362648" y="252067"/>
                  </a:cubicBezTo>
                  <a:lnTo>
                    <a:pt x="85174" y="252067"/>
                  </a:lnTo>
                  <a:cubicBezTo>
                    <a:pt x="38134" y="252067"/>
                    <a:pt x="0" y="213933"/>
                    <a:pt x="0" y="166893"/>
                  </a:cubicBezTo>
                  <a:lnTo>
                    <a:pt x="0" y="85174"/>
                  </a:lnTo>
                  <a:cubicBezTo>
                    <a:pt x="0" y="38134"/>
                    <a:pt x="38134" y="0"/>
                    <a:pt x="85174" y="0"/>
                  </a:cubicBezTo>
                  <a:close/>
                </a:path>
              </a:pathLst>
            </a:custGeom>
            <a:blipFill>
              <a:blip r:embed="rId3"/>
              <a:stretch>
                <a:fillRect l="-256" t="0" r="-256" b="0"/>
              </a:stretch>
            </a:blipFill>
            <a:ln w="38100" cap="rnd">
              <a:solidFill>
                <a:srgbClr val="000000"/>
              </a:solidFill>
              <a:prstDash val="solid"/>
              <a:round/>
            </a:ln>
          </p:spPr>
        </p:sp>
      </p:grpSp>
      <p:grpSp>
        <p:nvGrpSpPr>
          <p:cNvPr name="Group 12" id="12"/>
          <p:cNvGrpSpPr/>
          <p:nvPr/>
        </p:nvGrpSpPr>
        <p:grpSpPr>
          <a:xfrm rot="0">
            <a:off x="11868150" y="1562100"/>
            <a:ext cx="3181350" cy="1790700"/>
            <a:chOff x="0" y="0"/>
            <a:chExt cx="447821" cy="252067"/>
          </a:xfrm>
        </p:grpSpPr>
        <p:sp>
          <p:nvSpPr>
            <p:cNvPr name="Freeform 13" id="13"/>
            <p:cNvSpPr/>
            <p:nvPr/>
          </p:nvSpPr>
          <p:spPr>
            <a:xfrm flipH="false" flipV="false" rot="0">
              <a:off x="0" y="0"/>
              <a:ext cx="447821" cy="252067"/>
            </a:xfrm>
            <a:custGeom>
              <a:avLst/>
              <a:gdLst/>
              <a:ahLst/>
              <a:cxnLst/>
              <a:rect r="r" b="b" t="t" l="l"/>
              <a:pathLst>
                <a:path h="252067" w="447821">
                  <a:moveTo>
                    <a:pt x="85174" y="0"/>
                  </a:moveTo>
                  <a:lnTo>
                    <a:pt x="362648" y="0"/>
                  </a:lnTo>
                  <a:cubicBezTo>
                    <a:pt x="409688" y="0"/>
                    <a:pt x="447821" y="38134"/>
                    <a:pt x="447821" y="85174"/>
                  </a:cubicBezTo>
                  <a:lnTo>
                    <a:pt x="447821" y="166893"/>
                  </a:lnTo>
                  <a:cubicBezTo>
                    <a:pt x="447821" y="213933"/>
                    <a:pt x="409688" y="252067"/>
                    <a:pt x="362648" y="252067"/>
                  </a:cubicBezTo>
                  <a:lnTo>
                    <a:pt x="85174" y="252067"/>
                  </a:lnTo>
                  <a:cubicBezTo>
                    <a:pt x="38134" y="252067"/>
                    <a:pt x="0" y="213933"/>
                    <a:pt x="0" y="166893"/>
                  </a:cubicBezTo>
                  <a:lnTo>
                    <a:pt x="0" y="85174"/>
                  </a:lnTo>
                  <a:cubicBezTo>
                    <a:pt x="0" y="38134"/>
                    <a:pt x="38134" y="0"/>
                    <a:pt x="85174" y="0"/>
                  </a:cubicBezTo>
                  <a:close/>
                </a:path>
              </a:pathLst>
            </a:custGeom>
            <a:blipFill>
              <a:blip r:embed="rId4"/>
              <a:stretch>
                <a:fillRect l="-256" t="0" r="-256" b="0"/>
              </a:stretch>
            </a:blipFill>
            <a:ln w="38100" cap="rnd">
              <a:solidFill>
                <a:srgbClr val="000000"/>
              </a:solidFill>
              <a:prstDash val="solid"/>
              <a:round/>
            </a:ln>
          </p:spPr>
        </p:sp>
      </p:grpSp>
      <p:grpSp>
        <p:nvGrpSpPr>
          <p:cNvPr name="Group 14" id="14"/>
          <p:cNvGrpSpPr/>
          <p:nvPr/>
        </p:nvGrpSpPr>
        <p:grpSpPr>
          <a:xfrm rot="0">
            <a:off x="7309581" y="3726131"/>
            <a:ext cx="3668838" cy="1123378"/>
            <a:chOff x="0" y="0"/>
            <a:chExt cx="4891784" cy="1497838"/>
          </a:xfrm>
        </p:grpSpPr>
        <p:sp>
          <p:nvSpPr>
            <p:cNvPr name="TextBox 15" id="15"/>
            <p:cNvSpPr txBox="true"/>
            <p:nvPr/>
          </p:nvSpPr>
          <p:spPr>
            <a:xfrm rot="0">
              <a:off x="0" y="503809"/>
              <a:ext cx="4891784" cy="994029"/>
            </a:xfrm>
            <a:prstGeom prst="rect">
              <a:avLst/>
            </a:prstGeom>
          </p:spPr>
          <p:txBody>
            <a:bodyPr anchor="t" rtlCol="false" tIns="0" lIns="0" bIns="0" rIns="0">
              <a:spAutoFit/>
            </a:bodyPr>
            <a:lstStyle/>
            <a:p>
              <a:pPr algn="ctr" marL="0" indent="0" lvl="0">
                <a:lnSpc>
                  <a:spcPts val="2905"/>
                </a:lnSpc>
              </a:pPr>
              <a:r>
                <a:rPr lang="en-US" sz="2235">
                  <a:solidFill>
                    <a:srgbClr val="F5F5F5"/>
                  </a:solidFill>
                  <a:latin typeface="Codec Pro"/>
                  <a:ea typeface="Codec Pro"/>
                  <a:cs typeface="Codec Pro"/>
                  <a:sym typeface="Codec Pro"/>
                </a:rPr>
                <a:t>Une interface intuitive pour effectuer des dépôts.</a:t>
              </a:r>
            </a:p>
          </p:txBody>
        </p:sp>
        <p:sp>
          <p:nvSpPr>
            <p:cNvPr name="TextBox 16" id="16"/>
            <p:cNvSpPr txBox="true"/>
            <p:nvPr/>
          </p:nvSpPr>
          <p:spPr>
            <a:xfrm rot="0">
              <a:off x="0" y="-76200"/>
              <a:ext cx="4891784" cy="545084"/>
            </a:xfrm>
            <a:prstGeom prst="rect">
              <a:avLst/>
            </a:prstGeom>
          </p:spPr>
          <p:txBody>
            <a:bodyPr anchor="t" rtlCol="false" tIns="0" lIns="0" bIns="0" rIns="0">
              <a:spAutoFit/>
            </a:bodyPr>
            <a:lstStyle/>
            <a:p>
              <a:pPr algn="ctr" marL="0" indent="0" lvl="0">
                <a:lnSpc>
                  <a:spcPts val="3003"/>
                </a:lnSpc>
              </a:pPr>
              <a:r>
                <a:rPr lang="en-US" b="true" sz="2310">
                  <a:solidFill>
                    <a:srgbClr val="C5CAE9"/>
                  </a:solidFill>
                  <a:latin typeface="Codec Pro Ultra-Bold"/>
                  <a:ea typeface="Codec Pro Ultra-Bold"/>
                  <a:cs typeface="Codec Pro Ultra-Bold"/>
                  <a:sym typeface="Codec Pro Ultra-Bold"/>
                </a:rPr>
                <a:t>Dépôts</a:t>
              </a:r>
            </a:p>
          </p:txBody>
        </p:sp>
      </p:grpSp>
      <p:grpSp>
        <p:nvGrpSpPr>
          <p:cNvPr name="Group 17" id="17"/>
          <p:cNvGrpSpPr/>
          <p:nvPr/>
        </p:nvGrpSpPr>
        <p:grpSpPr>
          <a:xfrm rot="0">
            <a:off x="11624406" y="3726131"/>
            <a:ext cx="3668838" cy="1123378"/>
            <a:chOff x="0" y="0"/>
            <a:chExt cx="4891784" cy="1497838"/>
          </a:xfrm>
        </p:grpSpPr>
        <p:sp>
          <p:nvSpPr>
            <p:cNvPr name="TextBox 18" id="18"/>
            <p:cNvSpPr txBox="true"/>
            <p:nvPr/>
          </p:nvSpPr>
          <p:spPr>
            <a:xfrm rot="0">
              <a:off x="0" y="503809"/>
              <a:ext cx="4891784" cy="994029"/>
            </a:xfrm>
            <a:prstGeom prst="rect">
              <a:avLst/>
            </a:prstGeom>
          </p:spPr>
          <p:txBody>
            <a:bodyPr anchor="t" rtlCol="false" tIns="0" lIns="0" bIns="0" rIns="0">
              <a:spAutoFit/>
            </a:bodyPr>
            <a:lstStyle/>
            <a:p>
              <a:pPr algn="ctr" marL="0" indent="0" lvl="0">
                <a:lnSpc>
                  <a:spcPts val="2905"/>
                </a:lnSpc>
              </a:pPr>
              <a:r>
                <a:rPr lang="en-US" sz="2235">
                  <a:solidFill>
                    <a:srgbClr val="F5F5F5"/>
                  </a:solidFill>
                  <a:latin typeface="Codec Pro"/>
                  <a:ea typeface="Codec Pro"/>
                  <a:cs typeface="Codec Pro"/>
                  <a:sym typeface="Codec Pro"/>
                </a:rPr>
                <a:t>Processus simplifié pour retirer de l'argent.</a:t>
              </a:r>
            </a:p>
          </p:txBody>
        </p:sp>
        <p:sp>
          <p:nvSpPr>
            <p:cNvPr name="TextBox 19" id="19"/>
            <p:cNvSpPr txBox="true"/>
            <p:nvPr/>
          </p:nvSpPr>
          <p:spPr>
            <a:xfrm rot="0">
              <a:off x="0" y="-76200"/>
              <a:ext cx="4891784" cy="545084"/>
            </a:xfrm>
            <a:prstGeom prst="rect">
              <a:avLst/>
            </a:prstGeom>
          </p:spPr>
          <p:txBody>
            <a:bodyPr anchor="t" rtlCol="false" tIns="0" lIns="0" bIns="0" rIns="0">
              <a:spAutoFit/>
            </a:bodyPr>
            <a:lstStyle/>
            <a:p>
              <a:pPr algn="ctr" marL="0" indent="0" lvl="0">
                <a:lnSpc>
                  <a:spcPts val="3003"/>
                </a:lnSpc>
              </a:pPr>
              <a:r>
                <a:rPr lang="en-US" b="true" sz="2310">
                  <a:solidFill>
                    <a:srgbClr val="C5CAE9"/>
                  </a:solidFill>
                  <a:latin typeface="Codec Pro Ultra-Bold"/>
                  <a:ea typeface="Codec Pro Ultra-Bold"/>
                  <a:cs typeface="Codec Pro Ultra-Bold"/>
                  <a:sym typeface="Codec Pro Ultra-Bold"/>
                </a:rPr>
                <a:t>Retraits</a:t>
              </a:r>
            </a:p>
          </p:txBody>
        </p:sp>
      </p:grpSp>
      <p:grpSp>
        <p:nvGrpSpPr>
          <p:cNvPr name="Group 20" id="20"/>
          <p:cNvGrpSpPr/>
          <p:nvPr/>
        </p:nvGrpSpPr>
        <p:grpSpPr>
          <a:xfrm rot="0">
            <a:off x="2994756" y="7538085"/>
            <a:ext cx="3668838" cy="1123378"/>
            <a:chOff x="0" y="0"/>
            <a:chExt cx="4891784" cy="1497838"/>
          </a:xfrm>
        </p:grpSpPr>
        <p:sp>
          <p:nvSpPr>
            <p:cNvPr name="TextBox 21" id="21"/>
            <p:cNvSpPr txBox="true"/>
            <p:nvPr/>
          </p:nvSpPr>
          <p:spPr>
            <a:xfrm rot="0">
              <a:off x="0" y="503809"/>
              <a:ext cx="4891784" cy="994029"/>
            </a:xfrm>
            <a:prstGeom prst="rect">
              <a:avLst/>
            </a:prstGeom>
          </p:spPr>
          <p:txBody>
            <a:bodyPr anchor="t" rtlCol="false" tIns="0" lIns="0" bIns="0" rIns="0">
              <a:spAutoFit/>
            </a:bodyPr>
            <a:lstStyle/>
            <a:p>
              <a:pPr algn="ctr" marL="0" indent="0" lvl="0">
                <a:lnSpc>
                  <a:spcPts val="2905"/>
                </a:lnSpc>
              </a:pPr>
              <a:r>
                <a:rPr lang="en-US" sz="2235">
                  <a:solidFill>
                    <a:srgbClr val="F5F5F5"/>
                  </a:solidFill>
                  <a:latin typeface="Codec Pro"/>
                  <a:ea typeface="Codec Pro"/>
                  <a:cs typeface="Codec Pro"/>
                  <a:sym typeface="Codec Pro"/>
                </a:rPr>
                <a:t>Confirmation claire des virements effectués.</a:t>
              </a:r>
            </a:p>
          </p:txBody>
        </p:sp>
        <p:sp>
          <p:nvSpPr>
            <p:cNvPr name="TextBox 22" id="22"/>
            <p:cNvSpPr txBox="true"/>
            <p:nvPr/>
          </p:nvSpPr>
          <p:spPr>
            <a:xfrm rot="0">
              <a:off x="0" y="-76200"/>
              <a:ext cx="4891784" cy="545084"/>
            </a:xfrm>
            <a:prstGeom prst="rect">
              <a:avLst/>
            </a:prstGeom>
          </p:spPr>
          <p:txBody>
            <a:bodyPr anchor="t" rtlCol="false" tIns="0" lIns="0" bIns="0" rIns="0">
              <a:spAutoFit/>
            </a:bodyPr>
            <a:lstStyle/>
            <a:p>
              <a:pPr algn="ctr" marL="0" indent="0" lvl="0">
                <a:lnSpc>
                  <a:spcPts val="3003"/>
                </a:lnSpc>
              </a:pPr>
              <a:r>
                <a:rPr lang="en-US" b="true" sz="2310">
                  <a:solidFill>
                    <a:srgbClr val="C5CAE9"/>
                  </a:solidFill>
                  <a:latin typeface="Codec Pro Ultra-Bold"/>
                  <a:ea typeface="Codec Pro Ultra-Bold"/>
                  <a:cs typeface="Codec Pro Ultra-Bold"/>
                  <a:sym typeface="Codec Pro Ultra-Bold"/>
                </a:rPr>
                <a:t>Virements</a:t>
              </a:r>
            </a:p>
          </p:txBody>
        </p:sp>
      </p:grpSp>
      <p:grpSp>
        <p:nvGrpSpPr>
          <p:cNvPr name="Group 23" id="23"/>
          <p:cNvGrpSpPr/>
          <p:nvPr/>
        </p:nvGrpSpPr>
        <p:grpSpPr>
          <a:xfrm rot="0">
            <a:off x="7553325" y="5374054"/>
            <a:ext cx="3181350" cy="1790700"/>
            <a:chOff x="0" y="0"/>
            <a:chExt cx="447821" cy="252067"/>
          </a:xfrm>
        </p:grpSpPr>
        <p:sp>
          <p:nvSpPr>
            <p:cNvPr name="Freeform 24" id="24"/>
            <p:cNvSpPr/>
            <p:nvPr/>
          </p:nvSpPr>
          <p:spPr>
            <a:xfrm flipH="false" flipV="false" rot="0">
              <a:off x="0" y="0"/>
              <a:ext cx="447821" cy="252067"/>
            </a:xfrm>
            <a:custGeom>
              <a:avLst/>
              <a:gdLst/>
              <a:ahLst/>
              <a:cxnLst/>
              <a:rect r="r" b="b" t="t" l="l"/>
              <a:pathLst>
                <a:path h="252067" w="447821">
                  <a:moveTo>
                    <a:pt x="85174" y="0"/>
                  </a:moveTo>
                  <a:lnTo>
                    <a:pt x="362648" y="0"/>
                  </a:lnTo>
                  <a:cubicBezTo>
                    <a:pt x="409688" y="0"/>
                    <a:pt x="447821" y="38134"/>
                    <a:pt x="447821" y="85174"/>
                  </a:cubicBezTo>
                  <a:lnTo>
                    <a:pt x="447821" y="166893"/>
                  </a:lnTo>
                  <a:cubicBezTo>
                    <a:pt x="447821" y="213933"/>
                    <a:pt x="409688" y="252067"/>
                    <a:pt x="362648" y="252067"/>
                  </a:cubicBezTo>
                  <a:lnTo>
                    <a:pt x="85174" y="252067"/>
                  </a:lnTo>
                  <a:cubicBezTo>
                    <a:pt x="38134" y="252067"/>
                    <a:pt x="0" y="213933"/>
                    <a:pt x="0" y="166893"/>
                  </a:cubicBezTo>
                  <a:lnTo>
                    <a:pt x="0" y="85174"/>
                  </a:lnTo>
                  <a:cubicBezTo>
                    <a:pt x="0" y="38134"/>
                    <a:pt x="38134" y="0"/>
                    <a:pt x="85174" y="0"/>
                  </a:cubicBezTo>
                  <a:close/>
                </a:path>
              </a:pathLst>
            </a:custGeom>
            <a:blipFill>
              <a:blip r:embed="rId5"/>
              <a:stretch>
                <a:fillRect l="-256" t="0" r="-256" b="0"/>
              </a:stretch>
            </a:blipFill>
            <a:ln w="38100" cap="rnd">
              <a:solidFill>
                <a:srgbClr val="000000"/>
              </a:solidFill>
              <a:prstDash val="solid"/>
              <a:round/>
            </a:ln>
          </p:spPr>
        </p:sp>
      </p:grpSp>
      <p:grpSp>
        <p:nvGrpSpPr>
          <p:cNvPr name="Group 25" id="25"/>
          <p:cNvGrpSpPr/>
          <p:nvPr/>
        </p:nvGrpSpPr>
        <p:grpSpPr>
          <a:xfrm rot="0">
            <a:off x="3238500" y="5374054"/>
            <a:ext cx="3181350" cy="1790700"/>
            <a:chOff x="0" y="0"/>
            <a:chExt cx="447821" cy="252067"/>
          </a:xfrm>
        </p:grpSpPr>
        <p:sp>
          <p:nvSpPr>
            <p:cNvPr name="Freeform 26" id="26"/>
            <p:cNvSpPr/>
            <p:nvPr/>
          </p:nvSpPr>
          <p:spPr>
            <a:xfrm flipH="false" flipV="false" rot="0">
              <a:off x="0" y="0"/>
              <a:ext cx="447821" cy="252067"/>
            </a:xfrm>
            <a:custGeom>
              <a:avLst/>
              <a:gdLst/>
              <a:ahLst/>
              <a:cxnLst/>
              <a:rect r="r" b="b" t="t" l="l"/>
              <a:pathLst>
                <a:path h="252067" w="447821">
                  <a:moveTo>
                    <a:pt x="85174" y="0"/>
                  </a:moveTo>
                  <a:lnTo>
                    <a:pt x="362648" y="0"/>
                  </a:lnTo>
                  <a:cubicBezTo>
                    <a:pt x="409688" y="0"/>
                    <a:pt x="447821" y="38134"/>
                    <a:pt x="447821" y="85174"/>
                  </a:cubicBezTo>
                  <a:lnTo>
                    <a:pt x="447821" y="166893"/>
                  </a:lnTo>
                  <a:cubicBezTo>
                    <a:pt x="447821" y="213933"/>
                    <a:pt x="409688" y="252067"/>
                    <a:pt x="362648" y="252067"/>
                  </a:cubicBezTo>
                  <a:lnTo>
                    <a:pt x="85174" y="252067"/>
                  </a:lnTo>
                  <a:cubicBezTo>
                    <a:pt x="38134" y="252067"/>
                    <a:pt x="0" y="213933"/>
                    <a:pt x="0" y="166893"/>
                  </a:cubicBezTo>
                  <a:lnTo>
                    <a:pt x="0" y="85174"/>
                  </a:lnTo>
                  <a:cubicBezTo>
                    <a:pt x="0" y="38134"/>
                    <a:pt x="38134" y="0"/>
                    <a:pt x="85174" y="0"/>
                  </a:cubicBezTo>
                  <a:close/>
                </a:path>
              </a:pathLst>
            </a:custGeom>
            <a:blipFill>
              <a:blip r:embed="rId6"/>
              <a:stretch>
                <a:fillRect l="-256" t="0" r="-256" b="0"/>
              </a:stretch>
            </a:blipFill>
            <a:ln w="38100" cap="rnd">
              <a:solidFill>
                <a:srgbClr val="000000"/>
              </a:solidFill>
              <a:prstDash val="solid"/>
              <a:round/>
            </a:ln>
          </p:spPr>
        </p:sp>
      </p:grpSp>
      <p:grpSp>
        <p:nvGrpSpPr>
          <p:cNvPr name="Group 27" id="27"/>
          <p:cNvGrpSpPr/>
          <p:nvPr/>
        </p:nvGrpSpPr>
        <p:grpSpPr>
          <a:xfrm rot="0">
            <a:off x="7309581" y="7538085"/>
            <a:ext cx="3668838" cy="1123378"/>
            <a:chOff x="0" y="0"/>
            <a:chExt cx="4891784" cy="1497838"/>
          </a:xfrm>
        </p:grpSpPr>
        <p:sp>
          <p:nvSpPr>
            <p:cNvPr name="TextBox 28" id="28"/>
            <p:cNvSpPr txBox="true"/>
            <p:nvPr/>
          </p:nvSpPr>
          <p:spPr>
            <a:xfrm rot="0">
              <a:off x="0" y="503809"/>
              <a:ext cx="4891784" cy="994029"/>
            </a:xfrm>
            <a:prstGeom prst="rect">
              <a:avLst/>
            </a:prstGeom>
          </p:spPr>
          <p:txBody>
            <a:bodyPr anchor="t" rtlCol="false" tIns="0" lIns="0" bIns="0" rIns="0">
              <a:spAutoFit/>
            </a:bodyPr>
            <a:lstStyle/>
            <a:p>
              <a:pPr algn="ctr" marL="0" indent="0" lvl="0">
                <a:lnSpc>
                  <a:spcPts val="2905"/>
                </a:lnSpc>
              </a:pPr>
              <a:r>
                <a:rPr lang="en-US" sz="2235">
                  <a:solidFill>
                    <a:srgbClr val="F5F5F5"/>
                  </a:solidFill>
                  <a:latin typeface="Codec Pro"/>
                  <a:ea typeface="Codec Pro"/>
                  <a:cs typeface="Codec Pro"/>
                  <a:sym typeface="Codec Pro"/>
                </a:rPr>
                <a:t>Interface pour fermer un compte facilement.</a:t>
              </a:r>
            </a:p>
          </p:txBody>
        </p:sp>
        <p:sp>
          <p:nvSpPr>
            <p:cNvPr name="TextBox 29" id="29"/>
            <p:cNvSpPr txBox="true"/>
            <p:nvPr/>
          </p:nvSpPr>
          <p:spPr>
            <a:xfrm rot="0">
              <a:off x="0" y="-76200"/>
              <a:ext cx="4891784" cy="545084"/>
            </a:xfrm>
            <a:prstGeom prst="rect">
              <a:avLst/>
            </a:prstGeom>
          </p:spPr>
          <p:txBody>
            <a:bodyPr anchor="t" rtlCol="false" tIns="0" lIns="0" bIns="0" rIns="0">
              <a:spAutoFit/>
            </a:bodyPr>
            <a:lstStyle/>
            <a:p>
              <a:pPr algn="ctr" marL="0" indent="0" lvl="0">
                <a:lnSpc>
                  <a:spcPts val="3003"/>
                </a:lnSpc>
              </a:pPr>
              <a:r>
                <a:rPr lang="en-US" b="true" sz="2310">
                  <a:solidFill>
                    <a:srgbClr val="C5CAE9"/>
                  </a:solidFill>
                  <a:latin typeface="Codec Pro Ultra-Bold"/>
                  <a:ea typeface="Codec Pro Ultra-Bold"/>
                  <a:cs typeface="Codec Pro Ultra-Bold"/>
                  <a:sym typeface="Codec Pro Ultra-Bold"/>
                </a:rPr>
                <a:t>Fermetures de compte</a:t>
              </a:r>
            </a:p>
          </p:txBody>
        </p:sp>
      </p:grpSp>
      <p:grpSp>
        <p:nvGrpSpPr>
          <p:cNvPr name="Group 30" id="30"/>
          <p:cNvGrpSpPr/>
          <p:nvPr/>
        </p:nvGrpSpPr>
        <p:grpSpPr>
          <a:xfrm rot="0">
            <a:off x="11868150" y="5374054"/>
            <a:ext cx="3181350" cy="1790700"/>
            <a:chOff x="0" y="0"/>
            <a:chExt cx="447821" cy="252067"/>
          </a:xfrm>
        </p:grpSpPr>
        <p:sp>
          <p:nvSpPr>
            <p:cNvPr name="Freeform 31" id="31"/>
            <p:cNvSpPr/>
            <p:nvPr/>
          </p:nvSpPr>
          <p:spPr>
            <a:xfrm flipH="false" flipV="false" rot="0">
              <a:off x="0" y="0"/>
              <a:ext cx="447821" cy="252067"/>
            </a:xfrm>
            <a:custGeom>
              <a:avLst/>
              <a:gdLst/>
              <a:ahLst/>
              <a:cxnLst/>
              <a:rect r="r" b="b" t="t" l="l"/>
              <a:pathLst>
                <a:path h="252067" w="447821">
                  <a:moveTo>
                    <a:pt x="85174" y="0"/>
                  </a:moveTo>
                  <a:lnTo>
                    <a:pt x="362648" y="0"/>
                  </a:lnTo>
                  <a:cubicBezTo>
                    <a:pt x="409688" y="0"/>
                    <a:pt x="447821" y="38134"/>
                    <a:pt x="447821" y="85174"/>
                  </a:cubicBezTo>
                  <a:lnTo>
                    <a:pt x="447821" y="166893"/>
                  </a:lnTo>
                  <a:cubicBezTo>
                    <a:pt x="447821" y="213933"/>
                    <a:pt x="409688" y="252067"/>
                    <a:pt x="362648" y="252067"/>
                  </a:cubicBezTo>
                  <a:lnTo>
                    <a:pt x="85174" y="252067"/>
                  </a:lnTo>
                  <a:cubicBezTo>
                    <a:pt x="38134" y="252067"/>
                    <a:pt x="0" y="213933"/>
                    <a:pt x="0" y="166893"/>
                  </a:cubicBezTo>
                  <a:lnTo>
                    <a:pt x="0" y="85174"/>
                  </a:lnTo>
                  <a:cubicBezTo>
                    <a:pt x="0" y="38134"/>
                    <a:pt x="38134" y="0"/>
                    <a:pt x="85174" y="0"/>
                  </a:cubicBezTo>
                  <a:close/>
                </a:path>
              </a:pathLst>
            </a:custGeom>
            <a:blipFill>
              <a:blip r:embed="rId7"/>
              <a:stretch>
                <a:fillRect l="-256" t="0" r="-256" b="0"/>
              </a:stretch>
            </a:blipFill>
            <a:ln w="38100" cap="rnd">
              <a:solidFill>
                <a:srgbClr val="000000"/>
              </a:solidFill>
              <a:prstDash val="solid"/>
              <a:round/>
            </a:ln>
          </p:spPr>
        </p:sp>
      </p:grpSp>
      <p:grpSp>
        <p:nvGrpSpPr>
          <p:cNvPr name="Group 32" id="32"/>
          <p:cNvGrpSpPr/>
          <p:nvPr/>
        </p:nvGrpSpPr>
        <p:grpSpPr>
          <a:xfrm rot="0">
            <a:off x="11624406" y="7538085"/>
            <a:ext cx="3668838" cy="1485328"/>
            <a:chOff x="0" y="0"/>
            <a:chExt cx="4891784" cy="1980438"/>
          </a:xfrm>
        </p:grpSpPr>
        <p:sp>
          <p:nvSpPr>
            <p:cNvPr name="TextBox 33" id="33"/>
            <p:cNvSpPr txBox="true"/>
            <p:nvPr/>
          </p:nvSpPr>
          <p:spPr>
            <a:xfrm rot="0">
              <a:off x="0" y="503809"/>
              <a:ext cx="4891784" cy="1476629"/>
            </a:xfrm>
            <a:prstGeom prst="rect">
              <a:avLst/>
            </a:prstGeom>
          </p:spPr>
          <p:txBody>
            <a:bodyPr anchor="t" rtlCol="false" tIns="0" lIns="0" bIns="0" rIns="0">
              <a:spAutoFit/>
            </a:bodyPr>
            <a:lstStyle/>
            <a:p>
              <a:pPr algn="ctr" marL="0" indent="0" lvl="0">
                <a:lnSpc>
                  <a:spcPts val="2905"/>
                </a:lnSpc>
              </a:pPr>
              <a:r>
                <a:rPr lang="en-US" sz="2235">
                  <a:solidFill>
                    <a:srgbClr val="F5F5F5"/>
                  </a:solidFill>
                  <a:latin typeface="Codec Pro"/>
                  <a:ea typeface="Codec Pro"/>
                  <a:cs typeface="Codec Pro"/>
                  <a:sym typeface="Codec Pro"/>
                </a:rPr>
                <a:t>Récapitulatif des transactions récentes affiché.</a:t>
              </a:r>
            </a:p>
          </p:txBody>
        </p:sp>
        <p:sp>
          <p:nvSpPr>
            <p:cNvPr name="TextBox 34" id="34"/>
            <p:cNvSpPr txBox="true"/>
            <p:nvPr/>
          </p:nvSpPr>
          <p:spPr>
            <a:xfrm rot="0">
              <a:off x="0" y="-76200"/>
              <a:ext cx="4891784" cy="545084"/>
            </a:xfrm>
            <a:prstGeom prst="rect">
              <a:avLst/>
            </a:prstGeom>
          </p:spPr>
          <p:txBody>
            <a:bodyPr anchor="t" rtlCol="false" tIns="0" lIns="0" bIns="0" rIns="0">
              <a:spAutoFit/>
            </a:bodyPr>
            <a:lstStyle/>
            <a:p>
              <a:pPr algn="ctr" marL="0" indent="0" lvl="0">
                <a:lnSpc>
                  <a:spcPts val="3003"/>
                </a:lnSpc>
              </a:pPr>
              <a:r>
                <a:rPr lang="en-US" b="true" sz="2310">
                  <a:solidFill>
                    <a:srgbClr val="C5CAE9"/>
                  </a:solidFill>
                  <a:latin typeface="Codec Pro Ultra-Bold"/>
                  <a:ea typeface="Codec Pro Ultra-Bold"/>
                  <a:cs typeface="Codec Pro Ultra-Bold"/>
                  <a:sym typeface="Codec Pro Ultra-Bold"/>
                </a:rPr>
                <a:t>Historique</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sp>
        <p:nvSpPr>
          <p:cNvPr name="TextBox 14" id="14"/>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Tests et Traçabilité</a:t>
            </a:r>
          </a:p>
        </p:txBody>
      </p:sp>
      <p:sp>
        <p:nvSpPr>
          <p:cNvPr name="TextBox 15" id="15"/>
          <p:cNvSpPr txBox="true"/>
          <p:nvPr/>
        </p:nvSpPr>
        <p:spPr>
          <a:xfrm rot="0">
            <a:off x="2202924" y="4631085"/>
            <a:ext cx="4010025" cy="2769870"/>
          </a:xfrm>
          <a:prstGeom prst="rect">
            <a:avLst/>
          </a:prstGeom>
        </p:spPr>
        <p:txBody>
          <a:bodyPr anchor="t" rtlCol="false" tIns="0" lIns="0" bIns="0" rIns="0">
            <a:spAutoFit/>
          </a:bodyPr>
          <a:lstStyle/>
          <a:p>
            <a:pPr algn="ctr" marL="0" indent="0" lvl="0">
              <a:lnSpc>
                <a:spcPts val="3120"/>
              </a:lnSpc>
            </a:pPr>
            <a:r>
              <a:rPr lang="en-US" sz="2400" strike="noStrike" u="none">
                <a:solidFill>
                  <a:srgbClr val="F5F5F5"/>
                </a:solidFill>
                <a:latin typeface="Codec Pro"/>
                <a:ea typeface="Codec Pro"/>
                <a:cs typeface="Codec Pro"/>
                <a:sym typeface="Codec Pro"/>
              </a:rPr>
              <a:t>Nous avons conçu </a:t>
            </a:r>
            <a:r>
              <a:rPr lang="en-US" b="true" sz="2400" strike="noStrike" u="none">
                <a:solidFill>
                  <a:srgbClr val="F5F5F5"/>
                </a:solidFill>
                <a:latin typeface="Codec Pro Bold"/>
                <a:ea typeface="Codec Pro Bold"/>
                <a:cs typeface="Codec Pro Bold"/>
                <a:sym typeface="Codec Pro Bold"/>
              </a:rPr>
              <a:t>quatre suites de tests</a:t>
            </a:r>
            <a:r>
              <a:rPr lang="en-US" sz="2400" strike="noStrike" u="none">
                <a:solidFill>
                  <a:srgbClr val="F5F5F5"/>
                </a:solidFill>
                <a:latin typeface="Codec Pro"/>
                <a:ea typeface="Codec Pro"/>
                <a:cs typeface="Codec Pro"/>
                <a:sym typeface="Codec Pro"/>
              </a:rPr>
              <a:t> unitaires pour assurer la robustesse et la fiabilité de notre système, en vérifiant chaque composant critique du modèle.</a:t>
            </a:r>
          </a:p>
        </p:txBody>
      </p:sp>
      <p:sp>
        <p:nvSpPr>
          <p:cNvPr name="TextBox 16" id="16"/>
          <p:cNvSpPr txBox="true"/>
          <p:nvPr/>
        </p:nvSpPr>
        <p:spPr>
          <a:xfrm rot="0">
            <a:off x="7187937" y="4631085"/>
            <a:ext cx="4010025" cy="2769870"/>
          </a:xfrm>
          <a:prstGeom prst="rect">
            <a:avLst/>
          </a:prstGeom>
        </p:spPr>
        <p:txBody>
          <a:bodyPr anchor="t" rtlCol="false" tIns="0" lIns="0" bIns="0" rIns="0">
            <a:spAutoFit/>
          </a:bodyPr>
          <a:lstStyle/>
          <a:p>
            <a:pPr algn="ctr" marL="0" indent="0" lvl="0">
              <a:lnSpc>
                <a:spcPts val="3120"/>
              </a:lnSpc>
            </a:pPr>
            <a:r>
              <a:rPr lang="en-US" sz="2400" strike="noStrike" u="none">
                <a:solidFill>
                  <a:srgbClr val="F5F5F5"/>
                </a:solidFill>
                <a:latin typeface="Codec Pro"/>
                <a:ea typeface="Codec Pro"/>
                <a:cs typeface="Codec Pro"/>
                <a:sym typeface="Codec Pro"/>
              </a:rPr>
              <a:t>La couverture du </a:t>
            </a:r>
            <a:r>
              <a:rPr lang="en-US" b="true" sz="2400" strike="noStrike" u="none">
                <a:solidFill>
                  <a:srgbClr val="F5F5F5"/>
                </a:solidFill>
                <a:latin typeface="Codec Pro Bold"/>
                <a:ea typeface="Codec Pro Bold"/>
                <a:cs typeface="Codec Pro Bold"/>
                <a:sym typeface="Codec Pro Bold"/>
              </a:rPr>
              <a:t>cahier des charges</a:t>
            </a:r>
            <a:r>
              <a:rPr lang="en-US" sz="2400" strike="noStrike" u="none">
                <a:solidFill>
                  <a:srgbClr val="F5F5F5"/>
                </a:solidFill>
                <a:latin typeface="Codec Pro"/>
                <a:ea typeface="Codec Pro"/>
                <a:cs typeface="Codec Pro"/>
                <a:sym typeface="Codec Pro"/>
              </a:rPr>
              <a:t> est vérifiée, garantissant que chaque aspect du projet est testé, documenté et conforme aux exigences spécifiées dans la documentation.</a:t>
            </a:r>
          </a:p>
        </p:txBody>
      </p:sp>
      <p:sp>
        <p:nvSpPr>
          <p:cNvPr name="TextBox 17" id="17"/>
          <p:cNvSpPr txBox="true"/>
          <p:nvPr/>
        </p:nvSpPr>
        <p:spPr>
          <a:xfrm rot="0">
            <a:off x="12172950" y="4631085"/>
            <a:ext cx="4010025" cy="3160395"/>
          </a:xfrm>
          <a:prstGeom prst="rect">
            <a:avLst/>
          </a:prstGeom>
        </p:spPr>
        <p:txBody>
          <a:bodyPr anchor="t" rtlCol="false" tIns="0" lIns="0" bIns="0" rIns="0">
            <a:spAutoFit/>
          </a:bodyPr>
          <a:lstStyle/>
          <a:p>
            <a:pPr algn="ctr" marL="0" indent="0" lvl="0">
              <a:lnSpc>
                <a:spcPts val="3120"/>
              </a:lnSpc>
            </a:pPr>
            <a:r>
              <a:rPr lang="en-US" sz="2400" strike="noStrike" u="none">
                <a:solidFill>
                  <a:srgbClr val="F5F5F5"/>
                </a:solidFill>
                <a:latin typeface="Codec Pro"/>
                <a:ea typeface="Codec Pro"/>
                <a:cs typeface="Codec Pro"/>
                <a:sym typeface="Codec Pro"/>
              </a:rPr>
              <a:t>Le lien </a:t>
            </a:r>
            <a:r>
              <a:rPr lang="en-US" b="true" sz="2400" strike="noStrike" u="none">
                <a:solidFill>
                  <a:srgbClr val="F5F5F5"/>
                </a:solidFill>
                <a:latin typeface="Codec Pro Bold"/>
                <a:ea typeface="Codec Pro Bold"/>
                <a:cs typeface="Codec Pro Bold"/>
                <a:sym typeface="Codec Pro Bold"/>
              </a:rPr>
              <a:t>GitHub</a:t>
            </a:r>
            <a:r>
              <a:rPr lang="en-US" sz="2400" strike="noStrike" u="none">
                <a:solidFill>
                  <a:srgbClr val="F5F5F5"/>
                </a:solidFill>
                <a:latin typeface="Codec Pro"/>
                <a:ea typeface="Codec Pro"/>
                <a:cs typeface="Codec Pro"/>
                <a:sym typeface="Codec Pro"/>
              </a:rPr>
              <a:t> contient le code source complet et les résultats des tests, permettant une traçabilité et une transparence totales pour les parties prenantes et les développeurs.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grpSp>
        <p:nvGrpSpPr>
          <p:cNvPr name="Group 5" id="5"/>
          <p:cNvGrpSpPr/>
          <p:nvPr/>
        </p:nvGrpSpPr>
        <p:grpSpPr>
          <a:xfrm rot="0">
            <a:off x="6909150" y="1562100"/>
            <a:ext cx="9578625" cy="3447656"/>
            <a:chOff x="0" y="0"/>
            <a:chExt cx="2522765" cy="908025"/>
          </a:xfrm>
        </p:grpSpPr>
        <p:sp>
          <p:nvSpPr>
            <p:cNvPr name="Freeform 6" id="6"/>
            <p:cNvSpPr/>
            <p:nvPr/>
          </p:nvSpPr>
          <p:spPr>
            <a:xfrm flipH="false" flipV="false" rot="0">
              <a:off x="0" y="0"/>
              <a:ext cx="2522765" cy="908025"/>
            </a:xfrm>
            <a:custGeom>
              <a:avLst/>
              <a:gdLst/>
              <a:ahLst/>
              <a:cxnLst/>
              <a:rect r="r" b="b" t="t" l="l"/>
              <a:pathLst>
                <a:path h="908025" w="2522765">
                  <a:moveTo>
                    <a:pt x="40412" y="0"/>
                  </a:moveTo>
                  <a:lnTo>
                    <a:pt x="2482353" y="0"/>
                  </a:lnTo>
                  <a:cubicBezTo>
                    <a:pt x="2493071" y="0"/>
                    <a:pt x="2503350" y="4258"/>
                    <a:pt x="2510929" y="11837"/>
                  </a:cubicBezTo>
                  <a:cubicBezTo>
                    <a:pt x="2518508" y="19415"/>
                    <a:pt x="2522765" y="29694"/>
                    <a:pt x="2522765" y="40412"/>
                  </a:cubicBezTo>
                  <a:lnTo>
                    <a:pt x="2522765" y="867612"/>
                  </a:lnTo>
                  <a:cubicBezTo>
                    <a:pt x="2522765" y="878330"/>
                    <a:pt x="2518508" y="888609"/>
                    <a:pt x="2510929" y="896188"/>
                  </a:cubicBezTo>
                  <a:cubicBezTo>
                    <a:pt x="2503350" y="903767"/>
                    <a:pt x="2493071" y="908025"/>
                    <a:pt x="2482353" y="908025"/>
                  </a:cubicBezTo>
                  <a:lnTo>
                    <a:pt x="40412" y="908025"/>
                  </a:lnTo>
                  <a:cubicBezTo>
                    <a:pt x="29694" y="908025"/>
                    <a:pt x="19415" y="903767"/>
                    <a:pt x="11837" y="896188"/>
                  </a:cubicBezTo>
                  <a:cubicBezTo>
                    <a:pt x="4258" y="888609"/>
                    <a:pt x="0" y="878330"/>
                    <a:pt x="0" y="867612"/>
                  </a:cubicBezTo>
                  <a:lnTo>
                    <a:pt x="0" y="40412"/>
                  </a:lnTo>
                  <a:cubicBezTo>
                    <a:pt x="0" y="29694"/>
                    <a:pt x="4258" y="19415"/>
                    <a:pt x="11837" y="11837"/>
                  </a:cubicBezTo>
                  <a:cubicBezTo>
                    <a:pt x="19415" y="4258"/>
                    <a:pt x="29694" y="0"/>
                    <a:pt x="40412" y="0"/>
                  </a:cubicBezTo>
                  <a:close/>
                </a:path>
              </a:pathLst>
            </a:custGeom>
            <a:ln w="38100" cap="rnd">
              <a:solidFill>
                <a:srgbClr val="000000"/>
              </a:solidFill>
              <a:prstDash val="solid"/>
              <a:round/>
            </a:ln>
          </p:spPr>
        </p:sp>
        <p:sp>
          <p:nvSpPr>
            <p:cNvPr name="TextBox 7" id="7"/>
            <p:cNvSpPr txBox="true"/>
            <p:nvPr/>
          </p:nvSpPr>
          <p:spPr>
            <a:xfrm>
              <a:off x="0" y="-66675"/>
              <a:ext cx="2522765" cy="974700"/>
            </a:xfrm>
            <a:prstGeom prst="rect">
              <a:avLst/>
            </a:prstGeom>
          </p:spPr>
          <p:txBody>
            <a:bodyPr anchor="ctr" rtlCol="false" tIns="127000" lIns="127000" bIns="127000" rIns="127000"/>
            <a:lstStyle/>
            <a:p>
              <a:pPr algn="ctr" marL="0" indent="0" lvl="0">
                <a:lnSpc>
                  <a:spcPts val="3120"/>
                </a:lnSpc>
              </a:pPr>
            </a:p>
          </p:txBody>
        </p:sp>
      </p:grpSp>
      <p:grpSp>
        <p:nvGrpSpPr>
          <p:cNvPr name="Group 8" id="8"/>
          <p:cNvGrpSpPr/>
          <p:nvPr/>
        </p:nvGrpSpPr>
        <p:grpSpPr>
          <a:xfrm rot="0">
            <a:off x="6909150" y="5277244"/>
            <a:ext cx="9578625" cy="3447656"/>
            <a:chOff x="0" y="0"/>
            <a:chExt cx="2522765" cy="908025"/>
          </a:xfrm>
        </p:grpSpPr>
        <p:sp>
          <p:nvSpPr>
            <p:cNvPr name="Freeform 9" id="9"/>
            <p:cNvSpPr/>
            <p:nvPr/>
          </p:nvSpPr>
          <p:spPr>
            <a:xfrm flipH="false" flipV="false" rot="0">
              <a:off x="0" y="0"/>
              <a:ext cx="2522765" cy="908025"/>
            </a:xfrm>
            <a:custGeom>
              <a:avLst/>
              <a:gdLst/>
              <a:ahLst/>
              <a:cxnLst/>
              <a:rect r="r" b="b" t="t" l="l"/>
              <a:pathLst>
                <a:path h="908025" w="2522765">
                  <a:moveTo>
                    <a:pt x="40412" y="0"/>
                  </a:moveTo>
                  <a:lnTo>
                    <a:pt x="2482353" y="0"/>
                  </a:lnTo>
                  <a:cubicBezTo>
                    <a:pt x="2493071" y="0"/>
                    <a:pt x="2503350" y="4258"/>
                    <a:pt x="2510929" y="11837"/>
                  </a:cubicBezTo>
                  <a:cubicBezTo>
                    <a:pt x="2518508" y="19415"/>
                    <a:pt x="2522765" y="29694"/>
                    <a:pt x="2522765" y="40412"/>
                  </a:cubicBezTo>
                  <a:lnTo>
                    <a:pt x="2522765" y="867612"/>
                  </a:lnTo>
                  <a:cubicBezTo>
                    <a:pt x="2522765" y="878330"/>
                    <a:pt x="2518508" y="888609"/>
                    <a:pt x="2510929" y="896188"/>
                  </a:cubicBezTo>
                  <a:cubicBezTo>
                    <a:pt x="2503350" y="903767"/>
                    <a:pt x="2493071" y="908025"/>
                    <a:pt x="2482353" y="908025"/>
                  </a:cubicBezTo>
                  <a:lnTo>
                    <a:pt x="40412" y="908025"/>
                  </a:lnTo>
                  <a:cubicBezTo>
                    <a:pt x="29694" y="908025"/>
                    <a:pt x="19415" y="903767"/>
                    <a:pt x="11837" y="896188"/>
                  </a:cubicBezTo>
                  <a:cubicBezTo>
                    <a:pt x="4258" y="888609"/>
                    <a:pt x="0" y="878330"/>
                    <a:pt x="0" y="867612"/>
                  </a:cubicBezTo>
                  <a:lnTo>
                    <a:pt x="0" y="40412"/>
                  </a:lnTo>
                  <a:cubicBezTo>
                    <a:pt x="0" y="29694"/>
                    <a:pt x="4258" y="19415"/>
                    <a:pt x="11837" y="11837"/>
                  </a:cubicBezTo>
                  <a:cubicBezTo>
                    <a:pt x="19415" y="4258"/>
                    <a:pt x="29694" y="0"/>
                    <a:pt x="40412" y="0"/>
                  </a:cubicBezTo>
                  <a:close/>
                </a:path>
              </a:pathLst>
            </a:custGeom>
            <a:ln w="38100" cap="rnd">
              <a:solidFill>
                <a:srgbClr val="000000"/>
              </a:solidFill>
              <a:prstDash val="solid"/>
              <a:round/>
            </a:ln>
          </p:spPr>
        </p:sp>
        <p:sp>
          <p:nvSpPr>
            <p:cNvPr name="TextBox 10" id="10"/>
            <p:cNvSpPr txBox="true"/>
            <p:nvPr/>
          </p:nvSpPr>
          <p:spPr>
            <a:xfrm>
              <a:off x="0" y="-66675"/>
              <a:ext cx="2522765" cy="974700"/>
            </a:xfrm>
            <a:prstGeom prst="rect">
              <a:avLst/>
            </a:prstGeom>
          </p:spPr>
          <p:txBody>
            <a:bodyPr anchor="ctr" rtlCol="false" tIns="127000" lIns="127000" bIns="127000" rIns="127000"/>
            <a:lstStyle/>
            <a:p>
              <a:pPr algn="ctr" marL="0" indent="0" lvl="0">
                <a:lnSpc>
                  <a:spcPts val="3120"/>
                </a:lnSpc>
              </a:pPr>
            </a:p>
          </p:txBody>
        </p:sp>
      </p:grpSp>
      <p:sp>
        <p:nvSpPr>
          <p:cNvPr name="TextBox 11" id="11"/>
          <p:cNvSpPr txBox="true"/>
          <p:nvPr/>
        </p:nvSpPr>
        <p:spPr>
          <a:xfrm rot="0">
            <a:off x="2105025" y="4505325"/>
            <a:ext cx="4010025" cy="1228725"/>
          </a:xfrm>
          <a:prstGeom prst="rect">
            <a:avLst/>
          </a:prstGeom>
        </p:spPr>
        <p:txBody>
          <a:bodyPr anchor="t" rtlCol="false" tIns="0" lIns="0" bIns="0" rIns="0">
            <a:spAutoFit/>
          </a:bodyPr>
          <a:lstStyle/>
          <a:p>
            <a:pPr algn="ctr" marL="0" indent="0" lvl="0">
              <a:lnSpc>
                <a:spcPts val="4680"/>
              </a:lnSpc>
            </a:pPr>
            <a:r>
              <a:rPr lang="en-US" b="true" sz="3900" spc="-97">
                <a:solidFill>
                  <a:srgbClr val="C5CAE9"/>
                </a:solidFill>
                <a:latin typeface="Gatwick Ultra-Bold"/>
                <a:ea typeface="Gatwick Ultra-Bold"/>
                <a:cs typeface="Gatwick Ultra-Bold"/>
                <a:sym typeface="Gatwick Ultra-Bold"/>
              </a:rPr>
              <a:t>Limites et Perspectives</a:t>
            </a:r>
          </a:p>
        </p:txBody>
      </p:sp>
      <p:sp>
        <p:nvSpPr>
          <p:cNvPr name="TextBox 12" id="12"/>
          <p:cNvSpPr txBox="true"/>
          <p:nvPr/>
        </p:nvSpPr>
        <p:spPr>
          <a:xfrm rot="0">
            <a:off x="7553325" y="5973325"/>
            <a:ext cx="8290275" cy="1988820"/>
          </a:xfrm>
          <a:prstGeom prst="rect">
            <a:avLst/>
          </a:prstGeom>
        </p:spPr>
        <p:txBody>
          <a:bodyPr anchor="t" rtlCol="false" tIns="0" lIns="0" bIns="0" rIns="0">
            <a:spAutoFit/>
          </a:bodyPr>
          <a:lstStyle/>
          <a:p>
            <a:pPr algn="ctr" marL="0" indent="0" lvl="0">
              <a:lnSpc>
                <a:spcPts val="3120"/>
              </a:lnSpc>
            </a:pPr>
            <a:r>
              <a:rPr lang="en-US" sz="2400" strike="noStrike" u="none">
                <a:solidFill>
                  <a:srgbClr val="F5F5F5"/>
                </a:solidFill>
                <a:latin typeface="Codec Pro"/>
                <a:ea typeface="Codec Pro"/>
                <a:cs typeface="Codec Pro"/>
                <a:sym typeface="Codec Pro"/>
              </a:rPr>
              <a:t>Les perspectives incluent la visualisation des contre-exemples dans l'interface et l'extension à des réseaux temporisés pour modéliser des délais de transactions, ainsi que l'utilisation de BDD pour optimiser l'espace d'état.</a:t>
            </a:r>
          </a:p>
        </p:txBody>
      </p:sp>
      <p:sp>
        <p:nvSpPr>
          <p:cNvPr name="TextBox 13" id="13"/>
          <p:cNvSpPr txBox="true"/>
          <p:nvPr/>
        </p:nvSpPr>
        <p:spPr>
          <a:xfrm rot="0">
            <a:off x="7553325" y="2062918"/>
            <a:ext cx="8290275" cy="237934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Les limitations actuelles affectent la </a:t>
            </a:r>
            <a:r>
              <a:rPr lang="en-US" b="true" sz="2400">
                <a:solidFill>
                  <a:srgbClr val="F5F5F5"/>
                </a:solidFill>
                <a:latin typeface="Codec Pro Bold"/>
                <a:ea typeface="Codec Pro Bold"/>
                <a:cs typeface="Codec Pro Bold"/>
                <a:sym typeface="Codec Pro Bold"/>
              </a:rPr>
              <a:t>précision des soldes</a:t>
            </a:r>
            <a:r>
              <a:rPr lang="en-US" sz="2400">
                <a:solidFill>
                  <a:srgbClr val="F5F5F5"/>
                </a:solidFill>
                <a:latin typeface="Codec Pro"/>
                <a:ea typeface="Codec Pro"/>
                <a:cs typeface="Codec Pro"/>
                <a:sym typeface="Codec Pro"/>
              </a:rPr>
              <a:t>, en les représentant par une validité booléenne plutôt que des valeurs monétaires complètes. De plus, l'espace des états augmente rapidement avec le nombre de comptes, entraînant une explosion combinatoire dans les analyses formelles nécessaires.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3949A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5CAE9"/>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9296400" y="2457450"/>
            <a:ext cx="6886575" cy="4722495"/>
            <a:chOff x="0" y="0"/>
            <a:chExt cx="9182100" cy="6296660"/>
          </a:xfrm>
        </p:grpSpPr>
        <p:sp>
          <p:nvSpPr>
            <p:cNvPr name="TextBox 7" id="7"/>
            <p:cNvSpPr txBox="true"/>
            <p:nvPr/>
          </p:nvSpPr>
          <p:spPr>
            <a:xfrm rot="0">
              <a:off x="0" y="-57150"/>
              <a:ext cx="9182100" cy="4425950"/>
            </a:xfrm>
            <a:prstGeom prst="rect">
              <a:avLst/>
            </a:prstGeom>
          </p:spPr>
          <p:txBody>
            <a:bodyPr anchor="t" rtlCol="false" tIns="0" lIns="0" bIns="0" rIns="0">
              <a:spAutoFit/>
            </a:bodyPr>
            <a:lstStyle/>
            <a:p>
              <a:pPr algn="ctr" marL="0" indent="0" lvl="0">
                <a:lnSpc>
                  <a:spcPts val="6480"/>
                </a:lnSpc>
              </a:pPr>
              <a:r>
                <a:rPr lang="en-US" b="true" sz="5400" spc="-135">
                  <a:solidFill>
                    <a:srgbClr val="C5CAE9"/>
                  </a:solidFill>
                  <a:latin typeface="Gatwick Ultra-Bold"/>
                  <a:ea typeface="Gatwick Ultra-Bold"/>
                  <a:cs typeface="Gatwick Ultra-Bold"/>
                  <a:sym typeface="Gatwick Ultra-Bold"/>
                </a:rPr>
                <a:t>Conclusion : Synthèse du projet bancaire distribué</a:t>
              </a:r>
            </a:p>
          </p:txBody>
        </p:sp>
        <p:sp>
          <p:nvSpPr>
            <p:cNvPr name="TextBox 8" id="8"/>
            <p:cNvSpPr txBox="true"/>
            <p:nvPr/>
          </p:nvSpPr>
          <p:spPr>
            <a:xfrm rot="0">
              <a:off x="0" y="4708525"/>
              <a:ext cx="9182100" cy="1588135"/>
            </a:xfrm>
            <a:prstGeom prst="rect">
              <a:avLst/>
            </a:prstGeom>
          </p:spPr>
          <p:txBody>
            <a:bodyPr anchor="t" rtlCol="false" tIns="0" lIns="0" bIns="0" rIns="0">
              <a:spAutoFit/>
            </a:bodyPr>
            <a:lstStyle/>
            <a:p>
              <a:pPr algn="ctr" marL="0" indent="0" lvl="0">
                <a:lnSpc>
                  <a:spcPts val="3120"/>
                </a:lnSpc>
              </a:pPr>
              <a:r>
                <a:rPr lang="en-US" sz="2400">
                  <a:solidFill>
                    <a:srgbClr val="F5F5F5"/>
                  </a:solidFill>
                  <a:latin typeface="Codec Pro"/>
                  <a:ea typeface="Codec Pro"/>
                  <a:cs typeface="Codec Pro"/>
                  <a:sym typeface="Codec Pro"/>
                </a:rPr>
                <a:t>Ce projet illustre </a:t>
              </a:r>
              <a:r>
                <a:rPr lang="en-US" b="true" sz="2400">
                  <a:solidFill>
                    <a:srgbClr val="F5F5F5"/>
                  </a:solidFill>
                  <a:latin typeface="Codec Pro Bold"/>
                  <a:ea typeface="Codec Pro Bold"/>
                  <a:cs typeface="Codec Pro Bold"/>
                  <a:sym typeface="Codec Pro Bold"/>
                </a:rPr>
                <a:t>une approche intégrée</a:t>
              </a:r>
              <a:r>
                <a:rPr lang="en-US" sz="2400">
                  <a:solidFill>
                    <a:srgbClr val="F5F5F5"/>
                  </a:solidFill>
                  <a:latin typeface="Codec Pro"/>
                  <a:ea typeface="Codec Pro"/>
                  <a:cs typeface="Codec Pro"/>
                  <a:sym typeface="Codec Pro"/>
                </a:rPr>
                <a:t> pour garantir robustesse et fiabilité grâce à la vérification formelle des systèmes.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Présentation - Modélisation et vérification formelle</dc:description>
  <dc:identifier>DAHIh9KGG5A</dc:identifier>
  <dcterms:modified xsi:type="dcterms:W3CDTF">2011-08-01T06:04:30Z</dcterms:modified>
  <cp:revision>1</cp:revision>
  <dc:title>Présentation - Modélisation et vérification formelle</dc:title>
</cp:coreProperties>
</file>